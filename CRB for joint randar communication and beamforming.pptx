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1420" r:id="rId2"/>
    <p:sldId id="1535" r:id="rId3"/>
    <p:sldId id="1536" r:id="rId4"/>
    <p:sldId id="1537" r:id="rId5"/>
    <p:sldId id="1538" r:id="rId6"/>
    <p:sldId id="1539" r:id="rId7"/>
    <p:sldId id="1540" r:id="rId8"/>
    <p:sldId id="1541" r:id="rId9"/>
    <p:sldId id="1542" r:id="rId10"/>
    <p:sldId id="1543" r:id="rId11"/>
    <p:sldId id="1544" r:id="rId12"/>
    <p:sldId id="1545" r:id="rId13"/>
    <p:sldId id="1546" r:id="rId14"/>
    <p:sldId id="1547" r:id="rId15"/>
    <p:sldId id="1548" r:id="rId16"/>
    <p:sldId id="1549" r:id="rId17"/>
    <p:sldId id="1550" r:id="rId18"/>
    <p:sldId id="1551" r:id="rId19"/>
    <p:sldId id="1552" r:id="rId20"/>
    <p:sldId id="1553" r:id="rId21"/>
    <p:sldId id="1554" r:id="rId22"/>
    <p:sldId id="1555" r:id="rId23"/>
    <p:sldId id="1556" r:id="rId24"/>
    <p:sldId id="1557" r:id="rId25"/>
    <p:sldId id="1558" r:id="rId26"/>
    <p:sldId id="1559" r:id="rId27"/>
    <p:sldId id="1560" r:id="rId28"/>
    <p:sldId id="1561" r:id="rId29"/>
    <p:sldId id="1562" r:id="rId30"/>
    <p:sldId id="1563" r:id="rId31"/>
    <p:sldId id="1564" r:id="rId32"/>
    <p:sldId id="1565" r:id="rId33"/>
    <p:sldId id="1566" r:id="rId34"/>
    <p:sldId id="1567" r:id="rId35"/>
    <p:sldId id="1568" r:id="rId36"/>
    <p:sldId id="1569" r:id="rId37"/>
    <p:sldId id="1570" r:id="rId38"/>
    <p:sldId id="1571" r:id="rId39"/>
    <p:sldId id="1572" r:id="rId40"/>
    <p:sldId id="1573" r:id="rId41"/>
    <p:sldId id="1574" r:id="rId42"/>
    <p:sldId id="1575" r:id="rId43"/>
    <p:sldId id="1576" r:id="rId44"/>
    <p:sldId id="1577" r:id="rId45"/>
    <p:sldId id="1578" r:id="rId46"/>
    <p:sldId id="1579" r:id="rId47"/>
    <p:sldId id="1580" r:id="rId48"/>
    <p:sldId id="1581" r:id="rId49"/>
    <p:sldId id="1582" r:id="rId50"/>
    <p:sldId id="1583" r:id="rId51"/>
    <p:sldId id="1584" r:id="rId52"/>
    <p:sldId id="1585" r:id="rId53"/>
    <p:sldId id="1586" r:id="rId54"/>
    <p:sldId id="1587" r:id="rId55"/>
    <p:sldId id="1588" r:id="rId56"/>
    <p:sldId id="1589" r:id="rId57"/>
    <p:sldId id="1590" r:id="rId58"/>
    <p:sldId id="1591" r:id="rId59"/>
    <p:sldId id="1592" r:id="rId60"/>
    <p:sldId id="1593" r:id="rId61"/>
    <p:sldId id="1594" r:id="rId62"/>
    <p:sldId id="1595" r:id="rId63"/>
    <p:sldId id="1596" r:id="rId64"/>
    <p:sldId id="1597" r:id="rId65"/>
    <p:sldId id="1598" r:id="rId66"/>
    <p:sldId id="1599" r:id="rId6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BD31EEF-D149-46F4-BD7B-48ADCAC25F5D}">
          <p14:sldIdLst>
            <p14:sldId id="1420"/>
            <p14:sldId id="1535"/>
            <p14:sldId id="1536"/>
            <p14:sldId id="1537"/>
            <p14:sldId id="1538"/>
            <p14:sldId id="1539"/>
            <p14:sldId id="1540"/>
            <p14:sldId id="1541"/>
            <p14:sldId id="1542"/>
            <p14:sldId id="1543"/>
            <p14:sldId id="1544"/>
            <p14:sldId id="1545"/>
            <p14:sldId id="1546"/>
            <p14:sldId id="1547"/>
            <p14:sldId id="1548"/>
            <p14:sldId id="1549"/>
            <p14:sldId id="1550"/>
            <p14:sldId id="1551"/>
            <p14:sldId id="1552"/>
            <p14:sldId id="1553"/>
            <p14:sldId id="1554"/>
            <p14:sldId id="1555"/>
            <p14:sldId id="1556"/>
            <p14:sldId id="1557"/>
            <p14:sldId id="1558"/>
            <p14:sldId id="1559"/>
            <p14:sldId id="1560"/>
            <p14:sldId id="1561"/>
            <p14:sldId id="1562"/>
            <p14:sldId id="1563"/>
            <p14:sldId id="1564"/>
            <p14:sldId id="1565"/>
            <p14:sldId id="1566"/>
            <p14:sldId id="1567"/>
            <p14:sldId id="1568"/>
            <p14:sldId id="1569"/>
            <p14:sldId id="1570"/>
            <p14:sldId id="1571"/>
            <p14:sldId id="1572"/>
            <p14:sldId id="1573"/>
            <p14:sldId id="1574"/>
            <p14:sldId id="1575"/>
            <p14:sldId id="1576"/>
            <p14:sldId id="1577"/>
            <p14:sldId id="1578"/>
            <p14:sldId id="1579"/>
            <p14:sldId id="1580"/>
            <p14:sldId id="1581"/>
            <p14:sldId id="1582"/>
            <p14:sldId id="1583"/>
            <p14:sldId id="1584"/>
            <p14:sldId id="1585"/>
            <p14:sldId id="1586"/>
            <p14:sldId id="1587"/>
            <p14:sldId id="1588"/>
            <p14:sldId id="1589"/>
            <p14:sldId id="1590"/>
            <p14:sldId id="1591"/>
            <p14:sldId id="1592"/>
            <p14:sldId id="1593"/>
            <p14:sldId id="1594"/>
            <p14:sldId id="1595"/>
            <p14:sldId id="1596"/>
            <p14:sldId id="1597"/>
            <p14:sldId id="1598"/>
            <p14:sldId id="15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193C43-86CB-4E59-B1EB-ADE4B892B60F}" v="3" dt="2026-03-09T01:02:53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A80AD-75C0-4139-8349-D7A56AAE34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06930-2FBF-4BDF-BB7A-ED0F3C0B8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361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06930-2FBF-4BDF-BB7A-ED0F3C0B851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344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BAEBA-F25F-4473-80C2-25CDA93B21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5EA62A-FC14-43A6-9DFC-64DD0EA5E6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73821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FBF63-6BE2-44A2-9B92-27824B37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F48-9CCD-4EE9-BB40-4739D0DAE972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98BBDE-AC92-4490-AADC-B4FE998E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7C4298-2A89-4F0A-B1C0-77A88295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8C916F-6552-480F-893B-32796E62A980}"/>
              </a:ext>
            </a:extLst>
          </p:cNvPr>
          <p:cNvSpPr/>
          <p:nvPr userDrawn="1"/>
        </p:nvSpPr>
        <p:spPr>
          <a:xfrm>
            <a:off x="838200" y="3599357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1520A-C81E-4CF1-AECD-A61D6660DB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8E0C27-FA2C-4144-B7E7-505744E575A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FB215-C15F-4E74-86DC-78FAD0147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ADD3-F434-478C-876A-1D3933DF4707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EAFA9-F342-4D37-B503-8DFA950A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22012F-5023-43D1-B1CF-BFE3A893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5CEF90-2A69-4F23-93AB-B8D6AADF74CD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89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8F93D-390F-465E-B0D5-72A75C273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70026"/>
            <a:ext cx="10515600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01743D-6833-4A7C-B35A-0BDDB635A98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2845C-3C54-4151-820C-12503D6F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F26BB-6A75-410D-A6B0-8FD34915C10D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5650C-CE10-43E1-AA00-22EE20BA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FE2F95-697E-490C-9C4D-A59E0F91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1879A5-E33B-484A-B193-FE66531AACAC}"/>
              </a:ext>
            </a:extLst>
          </p:cNvPr>
          <p:cNvSpPr/>
          <p:nvPr userDrawn="1"/>
        </p:nvSpPr>
        <p:spPr>
          <a:xfrm>
            <a:off x="838200" y="4413578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86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7D261-400F-43CD-95C8-FE0DF8044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346026-ED45-448B-8D67-475453B7B9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649691"/>
            <a:ext cx="5104598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86C6A5-08D8-440E-B258-B881C64EC21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649691"/>
            <a:ext cx="5181600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9FDB51-62F3-4D1B-B8F7-D40284A7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CDF8-1723-475A-8393-34F016E9B184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744B04-D686-4DE2-BDDC-A3B4F371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FBE183-4474-4131-AEA4-9ADE4020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208725-7285-4D04-9690-A0DD84547197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4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BF73A-35E0-4388-AE26-587E2089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9F70A1-A021-4782-95A0-99F4C3203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0FFB53-257A-4315-A28C-9FE12D4C9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A17D5D-46C0-4878-B7E2-BD08FCD07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C2F3F9-8CCB-4F5B-85A6-D7470170D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47C80F-A4FC-4C78-89AB-B072C5C0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CD4A-1F8C-4D3E-BDD6-84C4090AF0D6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D4C5CE-D7DE-4C43-8F9E-7EA5847E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1C2CFA-CB2F-4476-8491-FBDAB29C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16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B9CC5-A2AF-47C1-8376-B695DF82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A6AA3E-6C10-4BA8-AF8D-ECF436F9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73545-46C1-49FB-A041-5415163523D0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DE3192-439D-4BEF-8848-4DF7C36D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05EAAA-CE1A-4578-A8FD-BDB3D530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670823-6C59-4996-843F-A4B8E1292D69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35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FA01BA-2C19-4BC8-9D08-60CC0DEE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BC6A4-6274-4803-89FF-1DA18D4FE7AA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921DE2-A0F7-482E-898F-C86B8C83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6F57A-5DCA-4541-B19A-1752D1A3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11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04372-0C6C-4F44-86AB-8DDAF142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88709-254A-4ED6-9188-74666615F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5872FF-AC9A-49BF-AC6E-F9EA1A406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7015C5-8E89-4986-AA3C-42A3F8FB6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353D-6971-4305-AB04-6AEE4DD0E048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82C019-EAA8-4CD6-BD5A-68BA9842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776716-556D-4628-94B1-7BC9A345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15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E144E-AA68-4DFD-9736-416AF8EE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C731A3-5F0D-4649-AF33-2F2F12D18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0070ED-93CE-4C5B-9A13-47766D18C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3E617-2B4B-4C49-B34C-F13496F5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5523-461B-44DB-AD97-7C06B206BE7B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88F62D-BB02-4585-B0DB-6C572478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DA3767-C6FA-46EE-B82E-E441B336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994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A2004-1E3B-4055-8772-F325E519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9AC7F-90CD-432E-AFBA-09A312E26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CBBB0-BA78-4216-B318-AF5F69D9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620A-9A66-47B0-9218-43F171A33458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E3B40-907A-49D6-9FA8-D643E4B4A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417526-857D-45AD-9891-D1359E79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E34BDA-8046-4B35-A748-33A5A9C8C415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78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286F9E-ABB1-47D9-BCD5-5FE077BEA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4F122D-472C-4176-9045-BF5B3ED41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40FC9-5A0B-483C-BEC0-6349DDDF1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86D9-B5F3-454A-8918-B4C99ED5AEDE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F7ACB-A377-4E38-BF13-4CE4A72C6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2AD96-62E9-4856-8C7D-4FC6FA78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34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0155A6-5E23-4681-A0F6-D6378107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357F3-390C-49AE-BB15-6F8F57DC0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49691"/>
            <a:ext cx="10515600" cy="4527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9027F-305A-4270-8200-1B8B6B4B7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38399" y="6356350"/>
            <a:ext cx="13331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9D1D2423-15C0-4D7C-B759-40ACCC100800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1B4A95-7775-4330-B809-DA1B22478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F4CA50-4832-40EE-82BE-A431AAD80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13331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A439D109-9F59-4B0B-8E20-D6D3A384B1F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EB3B3E-F3B6-4A77-8CE1-CA270A7A296F}"/>
              </a:ext>
            </a:extLst>
          </p:cNvPr>
          <p:cNvSpPr/>
          <p:nvPr userDrawn="1"/>
        </p:nvSpPr>
        <p:spPr>
          <a:xfrm>
            <a:off x="0" y="0"/>
            <a:ext cx="12192000" cy="235670"/>
          </a:xfrm>
          <a:prstGeom prst="rect">
            <a:avLst/>
          </a:prstGeom>
          <a:gradFill>
            <a:gsLst>
              <a:gs pos="63000">
                <a:schemeClr val="tx1"/>
              </a:gs>
              <a:gs pos="0">
                <a:schemeClr val="tx1"/>
              </a:gs>
              <a:gs pos="8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4D56D-F798-41D4-B204-99B8E8DEAB5A}"/>
              </a:ext>
            </a:extLst>
          </p:cNvPr>
          <p:cNvSpPr txBox="1"/>
          <p:nvPr userDrawn="1"/>
        </p:nvSpPr>
        <p:spPr>
          <a:xfrm>
            <a:off x="8501826" y="6550223"/>
            <a:ext cx="3690174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ognitive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ommunications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ystems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aboratory</a:t>
            </a:r>
            <a:endParaRPr lang="en-US" altLang="ko-KR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01637D-BAF8-43B2-A298-C5B3DAB22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077" b="34980"/>
          <a:stretch/>
        </p:blipFill>
        <p:spPr>
          <a:xfrm>
            <a:off x="9886511" y="17253"/>
            <a:ext cx="527404" cy="5262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0D9003C-FC42-4D68-ADBA-ADDEC8861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t="68955" b="6534"/>
          <a:stretch/>
        </p:blipFill>
        <p:spPr>
          <a:xfrm>
            <a:off x="10413915" y="17253"/>
            <a:ext cx="1760832" cy="52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uthor/37598255800" TargetMode="External"/><Relationship Id="rId2" Type="http://schemas.openxmlformats.org/officeDocument/2006/relationships/hyperlink" Target="https://ieeexplore.ieee.org/author/37086080022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eeexplore.ieee.org/author/37284203200" TargetMode="External"/><Relationship Id="rId5" Type="http://schemas.openxmlformats.org/officeDocument/2006/relationships/hyperlink" Target="https://ieeexplore.ieee.org/author/37299872300" TargetMode="External"/><Relationship Id="rId4" Type="http://schemas.openxmlformats.org/officeDocument/2006/relationships/hyperlink" Target="https://ieeexplore.ieee.org/author/37085481022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E81F8-418E-46B0-BF79-A9E5C85CC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169878"/>
            <a:ext cx="10501993" cy="1418326"/>
          </a:xfrm>
        </p:spPr>
        <p:txBody>
          <a:bodyPr>
            <a:normAutofit fontScale="90000"/>
          </a:bodyPr>
          <a:lstStyle/>
          <a:p>
            <a:r>
              <a:rPr lang="en-US" dirty="0"/>
              <a:t>Cramér-Rao Bound Optimization for Joint Radar-Communication Beamforming</a:t>
            </a:r>
            <a:br>
              <a:rPr lang="en-US" dirty="0"/>
            </a:br>
            <a:endParaRPr lang="ko-KR" altLang="en-US" sz="3600" b="0" dirty="0">
              <a:solidFill>
                <a:srgbClr val="0000FF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30F031-E57C-4418-8811-D07BEE7C1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704436"/>
            <a:ext cx="10501993" cy="141832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u="sng" dirty="0">
                <a:hlinkClick r:id="rId2"/>
              </a:rPr>
              <a:t>Fan Liu</a:t>
            </a:r>
            <a:r>
              <a:rPr lang="en-US" dirty="0"/>
              <a:t>; </a:t>
            </a:r>
            <a:r>
              <a:rPr lang="en-US" u="sng" dirty="0">
                <a:hlinkClick r:id="rId3"/>
              </a:rPr>
              <a:t>Ya-Feng Liu</a:t>
            </a:r>
            <a:r>
              <a:rPr lang="en-US" dirty="0"/>
              <a:t>; </a:t>
            </a:r>
            <a:r>
              <a:rPr lang="en-US" u="sng" dirty="0">
                <a:hlinkClick r:id="rId4"/>
              </a:rPr>
              <a:t>Ang Li</a:t>
            </a:r>
            <a:r>
              <a:rPr lang="en-US" dirty="0"/>
              <a:t>; </a:t>
            </a:r>
            <a:r>
              <a:rPr lang="en-US" u="sng" dirty="0">
                <a:hlinkClick r:id="rId5"/>
              </a:rPr>
              <a:t>Christos </a:t>
            </a:r>
            <a:r>
              <a:rPr lang="en-US" u="sng" dirty="0" err="1">
                <a:hlinkClick r:id="rId5"/>
              </a:rPr>
              <a:t>Masouros</a:t>
            </a:r>
            <a:r>
              <a:rPr lang="en-US" dirty="0"/>
              <a:t>; </a:t>
            </a:r>
            <a:r>
              <a:rPr lang="en-US" u="sng" dirty="0">
                <a:hlinkClick r:id="rId6"/>
              </a:rPr>
              <a:t>Yonina C. Eldar</a:t>
            </a:r>
            <a:endParaRPr lang="en-US" altLang="ko-KR" dirty="0">
              <a:latin typeface="Arial"/>
              <a:ea typeface="맑은 고딕"/>
              <a:cs typeface="Arial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3469BC-9EBF-44CC-97A2-356DEFF5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537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0944A7-DAFA-4EF6-9E4D-ED1A85B69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906" y="1065439"/>
            <a:ext cx="10463894" cy="425048"/>
          </a:xfrm>
        </p:spPr>
        <p:txBody>
          <a:bodyPr/>
          <a:lstStyle/>
          <a:p>
            <a:br>
              <a:rPr lang="en-US" sz="1500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Table of 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A9A21-3EFF-47FE-AF17-1A22D8129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7130"/>
            <a:ext cx="10515600" cy="4779219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endParaRPr lang="en-US" altLang="ko-K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7C2913-090F-4E65-B123-A622E093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46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7A9F3-5ACC-656E-BFC6-16F22151C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54F78-9732-1990-5C96-78EB7D05D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Objective</a:t>
            </a:r>
          </a:p>
          <a:p>
            <a:pPr lvl="1"/>
            <a:r>
              <a:rPr lang="en-US" dirty="0"/>
              <a:t>Design </a:t>
            </a:r>
            <a:r>
              <a:rPr lang="en-US" dirty="0">
                <a:solidFill>
                  <a:srgbClr val="7030A0"/>
                </a:solidFill>
              </a:rPr>
              <a:t>MIMO beamforming </a:t>
            </a:r>
            <a:r>
              <a:rPr lang="en-US" dirty="0"/>
              <a:t>for </a:t>
            </a:r>
            <a:r>
              <a:rPr lang="en-US" dirty="0">
                <a:solidFill>
                  <a:srgbClr val="7030A0"/>
                </a:solidFill>
              </a:rPr>
              <a:t>joint radar sensing </a:t>
            </a:r>
            <a:r>
              <a:rPr lang="en-US" dirty="0"/>
              <a:t>and </a:t>
            </a:r>
            <a:r>
              <a:rPr lang="en-US" dirty="0">
                <a:solidFill>
                  <a:srgbClr val="7030A0"/>
                </a:solidFill>
              </a:rPr>
              <a:t>multi-user communications</a:t>
            </a:r>
            <a:r>
              <a:rPr lang="en-US" dirty="0"/>
              <a:t>. </a:t>
            </a:r>
          </a:p>
          <a:p>
            <a:r>
              <a:rPr lang="en-US" dirty="0">
                <a:solidFill>
                  <a:srgbClr val="0000FF"/>
                </a:solidFill>
              </a:rPr>
              <a:t>Performance Metric</a:t>
            </a:r>
          </a:p>
          <a:p>
            <a:pPr lvl="1"/>
            <a:r>
              <a:rPr lang="en-US" dirty="0"/>
              <a:t>Use the </a:t>
            </a:r>
            <a:r>
              <a:rPr lang="en-US" dirty="0">
                <a:solidFill>
                  <a:srgbClr val="7030A0"/>
                </a:solidFill>
              </a:rPr>
              <a:t>Cramér–Rao Bound (CRB) </a:t>
            </a:r>
            <a:r>
              <a:rPr lang="en-US" dirty="0"/>
              <a:t>to evaluate </a:t>
            </a:r>
            <a:r>
              <a:rPr lang="en-US" dirty="0">
                <a:solidFill>
                  <a:srgbClr val="7030A0"/>
                </a:solidFill>
              </a:rPr>
              <a:t>target estimation accuracy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Consider both: 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Point target 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Extended target </a:t>
            </a:r>
          </a:p>
          <a:p>
            <a:r>
              <a:rPr lang="en-US" dirty="0">
                <a:solidFill>
                  <a:srgbClr val="0000FF"/>
                </a:solidFill>
              </a:rPr>
              <a:t>Proposed Method</a:t>
            </a:r>
          </a:p>
          <a:p>
            <a:pPr lvl="1"/>
            <a:r>
              <a:rPr lang="en-US" dirty="0"/>
              <a:t>Minimize </a:t>
            </a:r>
            <a:r>
              <a:rPr lang="en-US" dirty="0">
                <a:solidFill>
                  <a:srgbClr val="002060"/>
                </a:solidFill>
              </a:rPr>
              <a:t>radar CRB </a:t>
            </a:r>
          </a:p>
          <a:p>
            <a:pPr lvl="1"/>
            <a:r>
              <a:rPr lang="en-US" dirty="0"/>
              <a:t>Subject to </a:t>
            </a:r>
            <a:r>
              <a:rPr lang="en-US" dirty="0">
                <a:solidFill>
                  <a:srgbClr val="002060"/>
                </a:solidFill>
              </a:rPr>
              <a:t>per-user SINR constraints 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Single-user case: </a:t>
            </a:r>
            <a:r>
              <a:rPr lang="en-US" dirty="0"/>
              <a:t>closed-form optimal solution 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Multi-user case: </a:t>
            </a:r>
            <a:r>
              <a:rPr lang="en-US" dirty="0"/>
              <a:t>solve via </a:t>
            </a:r>
            <a:r>
              <a:rPr lang="en-US" b="1" dirty="0"/>
              <a:t>SDR / SDP</a:t>
            </a:r>
            <a:r>
              <a:rPr lang="en-US" dirty="0"/>
              <a:t> </a:t>
            </a:r>
          </a:p>
          <a:p>
            <a:r>
              <a:rPr lang="en-US" dirty="0">
                <a:solidFill>
                  <a:srgbClr val="0000FF"/>
                </a:solidFill>
              </a:rPr>
              <a:t>Main Result</a:t>
            </a:r>
          </a:p>
          <a:p>
            <a:pPr lvl="1"/>
            <a:r>
              <a:rPr lang="en-US" dirty="0"/>
              <a:t>Proposed methods can generally achieve </a:t>
            </a:r>
            <a:r>
              <a:rPr lang="en-US" dirty="0">
                <a:solidFill>
                  <a:srgbClr val="7030A0"/>
                </a:solidFill>
              </a:rPr>
              <a:t>global optimum </a:t>
            </a:r>
          </a:p>
          <a:p>
            <a:pPr lvl="1"/>
            <a:r>
              <a:rPr lang="en-US" dirty="0"/>
              <a:t>They provide </a:t>
            </a:r>
            <a:r>
              <a:rPr lang="en-US" dirty="0">
                <a:solidFill>
                  <a:srgbClr val="7030A0"/>
                </a:solidFill>
              </a:rPr>
              <a:t>significant target estimation gains </a:t>
            </a:r>
            <a:r>
              <a:rPr lang="en-US" dirty="0"/>
              <a:t>over benchmark methods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1CF28-81CF-EC77-A35F-85CAAF79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386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22686-20B1-C450-F241-F0B59DFD9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2747E-3578-A2D2-68C0-2A32ECFE0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Problem and Core Idea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Background</a:t>
            </a:r>
          </a:p>
          <a:p>
            <a:pPr lvl="2"/>
            <a:r>
              <a:rPr lang="en-US" dirty="0"/>
              <a:t>Joint radar sensing and multi-user communication are both important in modern wireless             systems. </a:t>
            </a:r>
          </a:p>
          <a:p>
            <a:pPr lvl="2"/>
            <a:r>
              <a:rPr lang="en-US" dirty="0"/>
              <a:t>A common MIMO beamforming design is needed to support both functions simultaneously. 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Problem</a:t>
            </a:r>
          </a:p>
          <a:p>
            <a:pPr lvl="2"/>
            <a:r>
              <a:rPr lang="en-US" dirty="0"/>
              <a:t>Design </a:t>
            </a:r>
            <a:r>
              <a:rPr lang="en-US" dirty="0">
                <a:solidFill>
                  <a:srgbClr val="002060"/>
                </a:solidFill>
              </a:rPr>
              <a:t>MIMO beamforming </a:t>
            </a:r>
            <a:r>
              <a:rPr lang="en-US" dirty="0"/>
              <a:t>for: </a:t>
            </a:r>
          </a:p>
          <a:p>
            <a:pPr marL="1657350" lvl="3" indent="-285750"/>
            <a:r>
              <a:rPr lang="en-US" dirty="0">
                <a:solidFill>
                  <a:srgbClr val="0070C0"/>
                </a:solidFill>
              </a:rPr>
              <a:t>radar sensing </a:t>
            </a:r>
          </a:p>
          <a:p>
            <a:pPr marL="1657350" lvl="3" indent="-285750"/>
            <a:r>
              <a:rPr lang="en-US" dirty="0">
                <a:solidFill>
                  <a:srgbClr val="0070C0"/>
                </a:solidFill>
              </a:rPr>
              <a:t>multi-user communications </a:t>
            </a:r>
          </a:p>
          <a:p>
            <a:pPr lvl="2"/>
            <a:r>
              <a:rPr lang="en-US" dirty="0"/>
              <a:t>The sensing performance is measured by the </a:t>
            </a:r>
            <a:r>
              <a:rPr lang="en-US" dirty="0">
                <a:solidFill>
                  <a:srgbClr val="002060"/>
                </a:solidFill>
              </a:rPr>
              <a:t>Cramér–Rao Bound (CRB). </a:t>
            </a:r>
          </a:p>
          <a:p>
            <a:pPr lvl="2"/>
            <a:r>
              <a:rPr lang="en-US" dirty="0"/>
              <a:t>The design must satisfy a required </a:t>
            </a:r>
            <a:r>
              <a:rPr lang="en-US" dirty="0">
                <a:solidFill>
                  <a:srgbClr val="002060"/>
                </a:solidFill>
              </a:rPr>
              <a:t>SINR</a:t>
            </a:r>
            <a:r>
              <a:rPr lang="en-US" dirty="0"/>
              <a:t> for each communication user. 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Target Scenarios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Point target 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Extended target </a:t>
            </a:r>
          </a:p>
          <a:p>
            <a:pPr lvl="1"/>
            <a:r>
              <a:rPr lang="en-US" dirty="0"/>
              <a:t>Minimize the radar CRB while guaranteeing communication QoS.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81B6C-16BB-67B8-3D0E-5274644D3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726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71F82-2008-E9BD-8814-C127567F5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14E6B-5433-5208-9F47-268B5C692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Method and Contributions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Method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Single-user case: </a:t>
            </a:r>
            <a:r>
              <a:rPr lang="en-US" dirty="0"/>
              <a:t>derive </a:t>
            </a:r>
            <a:r>
              <a:rPr lang="en-US" dirty="0">
                <a:solidFill>
                  <a:srgbClr val="0070C0"/>
                </a:solidFill>
              </a:rPr>
              <a:t>closed-form optimal beamforming solutions 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Multi-user case: </a:t>
            </a:r>
            <a:r>
              <a:rPr lang="en-US" dirty="0"/>
              <a:t>reformulate the problem using </a:t>
            </a:r>
            <a:r>
              <a:rPr lang="en-US" dirty="0">
                <a:solidFill>
                  <a:srgbClr val="0070C0"/>
                </a:solidFill>
              </a:rPr>
              <a:t>semidefinite relaxation (SDR) </a:t>
            </a:r>
          </a:p>
          <a:p>
            <a:pPr lvl="2"/>
            <a:r>
              <a:rPr lang="en-US" dirty="0"/>
              <a:t>Solve the relaxed problems as </a:t>
            </a:r>
            <a:r>
              <a:rPr lang="en-US" dirty="0">
                <a:solidFill>
                  <a:srgbClr val="002060"/>
                </a:solidFill>
              </a:rPr>
              <a:t>semidefinite programs (SDP) 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Key Theoretical Result</a:t>
            </a:r>
          </a:p>
          <a:p>
            <a:pPr lvl="2"/>
            <a:r>
              <a:rPr lang="en-US" dirty="0"/>
              <a:t>For the multi-user case, the paper shows that </a:t>
            </a:r>
            <a:r>
              <a:rPr lang="en-US" dirty="0">
                <a:solidFill>
                  <a:srgbClr val="7030A0"/>
                </a:solidFill>
              </a:rPr>
              <a:t>global optimum can generally be obtained 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Main Outcome</a:t>
            </a:r>
          </a:p>
          <a:p>
            <a:pPr lvl="2"/>
            <a:r>
              <a:rPr lang="en-US" dirty="0"/>
              <a:t>The proposed beamforming designs achieve </a:t>
            </a:r>
            <a:r>
              <a:rPr lang="en-US" dirty="0">
                <a:solidFill>
                  <a:srgbClr val="0070C0"/>
                </a:solidFill>
              </a:rPr>
              <a:t>significant target estimation improvement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outperform </a:t>
            </a:r>
            <a:r>
              <a:rPr lang="en-US" dirty="0">
                <a:solidFill>
                  <a:srgbClr val="7030A0"/>
                </a:solidFill>
              </a:rPr>
              <a:t>state-of-the-art benchmark methods </a:t>
            </a:r>
          </a:p>
          <a:p>
            <a:pPr lvl="1"/>
            <a:r>
              <a:rPr lang="en-US" dirty="0"/>
              <a:t>A CRB-driven DFRC beamforming framework with closed-form single-user solutions </a:t>
            </a:r>
          </a:p>
          <a:p>
            <a:pPr lvl="1"/>
            <a:r>
              <a:rPr lang="en-US" dirty="0"/>
              <a:t>And globally optimal multi-user designs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C6932-78B9-EE40-D670-98396F283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840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AEB30-B51A-18B6-584E-962FC53B5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29DD84-6A75-7255-C339-B05E03883E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dirty="0">
                    <a:solidFill>
                      <a:srgbClr val="0000FF"/>
                    </a:solidFill>
                  </a:rPr>
                  <a:t>A. System Setting</a:t>
                </a:r>
              </a:p>
              <a:p>
                <a:pPr lvl="1"/>
                <a:r>
                  <a:rPr lang="en-US" dirty="0"/>
                  <a:t>DFRC BS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transmit antennas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receive antennas </a:t>
                </a:r>
              </a:p>
              <a:p>
                <a:pPr lvl="1"/>
                <a:r>
                  <a:rPr lang="en-US" dirty="0"/>
                  <a:t>Serves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downlink single-antenna users and senses one target </a:t>
                </a:r>
              </a:p>
              <a:p>
                <a:pPr lvl="1"/>
                <a:r>
                  <a:rPr lang="en-US" dirty="0"/>
                  <a:t>Assumption: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dirty="0"/>
              </a:p>
              <a:p>
                <a:pPr lvl="1">
                  <a:buNone/>
                </a:pPr>
                <a:endParaRPr lang="en-US" dirty="0"/>
              </a:p>
              <a:p>
                <a:pPr lvl="1">
                  <a:buNone/>
                </a:pPr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29DD84-6A75-7255-C339-B05E03883E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5C3B4-8C7F-C7E5-373E-F061AAEDD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D9DC57-AA14-801B-8752-C9565BCEC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901" y="2923021"/>
            <a:ext cx="3989992" cy="32053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8EED68-A66B-7F56-9D19-CD5370D84149}"/>
              </a:ext>
            </a:extLst>
          </p:cNvPr>
          <p:cNvSpPr txBox="1"/>
          <p:nvPr/>
        </p:nvSpPr>
        <p:spPr>
          <a:xfrm>
            <a:off x="2492187" y="6293225"/>
            <a:ext cx="5831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Fig. 1. </a:t>
            </a:r>
            <a:r>
              <a:rPr lang="en-US" dirty="0"/>
              <a:t>Dual-functional Radar-Communication System</a:t>
            </a:r>
          </a:p>
        </p:txBody>
      </p:sp>
    </p:spTree>
    <p:extLst>
      <p:ext uri="{BB962C8B-B14F-4D97-AF65-F5344CB8AC3E}">
        <p14:creationId xmlns:p14="http://schemas.microsoft.com/office/powerpoint/2010/main" val="3512318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D5D87-607E-1222-6EEB-E46DA759E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08EEE-77EE-71D5-8DA2-6F1F088F94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Communication and Radar Signal Models</a:t>
                </a:r>
              </a:p>
              <a:p>
                <a:pPr lvl="1"/>
                <a:r>
                  <a:rPr lang="en-US" dirty="0"/>
                  <a:t>Transmit signal: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/>
                  <a:t>                                   (1)</a:t>
                </a:r>
                <a:endParaRPr lang="ar-AE" dirty="0"/>
              </a:p>
              <a:p>
                <a:pPr lvl="1"/>
                <a:r>
                  <a:rPr lang="en-US" dirty="0"/>
                  <a:t>Communication received signal: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𝐇𝐗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/>
                  <a:t>                              (2)</a:t>
                </a:r>
                <a:endParaRPr lang="ar-AE" dirty="0"/>
              </a:p>
              <a:p>
                <a:pPr lvl="1"/>
                <a:r>
                  <a:rPr lang="en-US" dirty="0"/>
                  <a:t>Stream covariance: 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/>
                  <a:t>                               (3)</a:t>
                </a:r>
                <a:endParaRPr lang="ar-AE" dirty="0"/>
              </a:p>
              <a:p>
                <a:pPr lvl="1"/>
                <a:r>
                  <a:rPr lang="en-US" dirty="0"/>
                  <a:t>Radar echo model: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𝐆𝐗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                           (4)</a:t>
                </a:r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08EEE-77EE-71D5-8DA2-6F1F088F94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0BC8C-BFED-1BBF-33B9-503BD60E9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214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1A585-218B-4B73-1AEE-10411235D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2A81A7-9B5A-D54A-404C-69CB68C713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Point Target and Extended Target Models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Point target: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𝐛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 i="1" smtClean="0">
                        <a:latin typeface="Cambria Math" panose="02040503050406030204" pitchFamily="18" charset="0"/>
                      </a:rPr>
                      <m:t>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                             (5)</a:t>
                </a:r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Extended target: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ar-AE" b="1" i="0">
                        <a:latin typeface="Cambria Math" panose="02040503050406030204" pitchFamily="18" charset="0"/>
                      </a:rPr>
                      <m:t>𝐛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                                 (6)</a:t>
                </a:r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One line difference: </a:t>
                </a:r>
              </a:p>
              <a:p>
                <a:pPr lvl="2"/>
                <a:r>
                  <a:rPr lang="en-US" dirty="0"/>
                  <a:t>point target = single reflector </a:t>
                </a:r>
              </a:p>
              <a:p>
                <a:pPr lvl="2"/>
                <a:r>
                  <a:rPr lang="en-US" dirty="0"/>
                  <a:t>extended target = multiple scatterers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Performance metrics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Radar sensing: </a:t>
                </a:r>
                <a:r>
                  <a:rPr lang="en-US" dirty="0"/>
                  <a:t>CRB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Communication QoS: </a:t>
                </a:r>
                <a:r>
                  <a:rPr lang="en-US" dirty="0"/>
                  <a:t>per-user SINR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Point-target CRB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acc>
                              <m:accPr>
                                <m:chr m:val="̇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)−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∣"/>
                                    <m:endChr m:val="∣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tr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ar-AE" b="1" i="0">
                                                <a:latin typeface="Cambria Math" panose="02040503050406030204" pitchFamily="18" charset="0"/>
                                              </a:rPr>
                                              <m:t>𝐀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  <m:d>
                                      <m:d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𝐑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sub>
                                    </m:s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 beamforming matrix is optimized to </a:t>
                </a:r>
                <a:r>
                  <a:rPr lang="en-US" dirty="0">
                    <a:solidFill>
                      <a:srgbClr val="7030A0"/>
                    </a:solidFill>
                  </a:rPr>
                  <a:t>minimize CRB </a:t>
                </a:r>
                <a:r>
                  <a:rPr lang="en-US" dirty="0"/>
                  <a:t>while satisfying user SINR requirements.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2A81A7-9B5A-D54A-404C-69CB68C713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r="-406" b="-10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24C3C-64A5-C406-9552-55D169E2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345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1A10C-7255-814D-516E-791DDB2DF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177BA-B34F-D174-D3EF-77E7BE3B9B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Performance Metrics for the Point Target Case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Radar Performance Metric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ar-AE" b="1">
                            <a:latin typeface="Cambria Math" panose="02040503050406030204" pitchFamily="18" charset="0"/>
                          </a:rPr>
                          <m:t>𝐀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acc>
                              <m:accPr>
                                <m:chr m:val="̇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𝐀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)−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∣"/>
                                    <m:endChr m:val="∣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tr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ar-AE" b="1">
                                                <a:latin typeface="Cambria Math" panose="02040503050406030204" pitchFamily="18" charset="0"/>
                                              </a:rPr>
                                              <m:t>𝐀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  <m:r>
                                      <a:rPr lang="ar-AE" b="1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  <m:d>
                                      <m:d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>
                                            <a:latin typeface="Cambria Math" panose="02040503050406030204" pitchFamily="18" charset="0"/>
                                          </a:rPr>
                                          <m:t>𝐑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sub>
                                    </m:s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lang="en-US" b="0" dirty="0"/>
                  <a:t>                  (7)</a:t>
                </a:r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Sample Covariance Matrix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ar-AE" b="1" i="0">
                        <a:latin typeface="Cambria Math" panose="02040503050406030204" pitchFamily="18" charset="0"/>
                      </a:rPr>
                      <m:t>𝐗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en-US" b="0" dirty="0"/>
                  <a:t>                                                 (8)</a:t>
                </a:r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Derivation </a:t>
                </a:r>
              </a:p>
              <a:p>
                <a:pPr lvl="2"/>
                <a:r>
                  <a:rPr lang="en-US" dirty="0"/>
                  <a:t>Because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We obtain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𝐷𝐹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𝐷𝐹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Using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It follows that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𝐷𝐹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𝐷𝐹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pPr lvl="4"/>
                <a:r>
                  <a:rPr lang="en-US" dirty="0"/>
                  <a:t>So, the CRB is directly controlled by the beamforming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6177BA-B34F-D174-D3EF-77E7BE3B9B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6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8FD61-0666-9EC4-AB90-0AE8BD9C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504039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9478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CB29D-7A7F-5FB5-6B60-D42013635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560AF5-EA46-6D96-4F64-4127299B5C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0"/>
                <a:ext cx="10515600" cy="5208309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B. Performance Metrics for the Point Target Case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Communication Performance Metric</a:t>
                </a:r>
              </a:p>
              <a:p>
                <a:pPr lvl="2"/>
                <a:r>
                  <a:rPr lang="en-US" dirty="0"/>
                  <a:t>By writing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…..,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The per-user SINR is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</m:nary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b="0" dirty="0"/>
                  <a:t>            (9)</a:t>
                </a:r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Derivation</a:t>
                </a:r>
              </a:p>
              <a:p>
                <a:pPr lvl="2"/>
                <a:r>
                  <a:rPr lang="en-US" dirty="0"/>
                  <a:t>For one symbol interval,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Thus, the received signal of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 b="1" i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signal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power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dirty="0"/>
                  <a:t>.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interference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 i="1"/>
                      <m:t>power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𝐬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</m:nary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b="0" dirty="0"/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</m:nary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560AF5-EA46-6D96-4F64-4127299B5C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0"/>
                <a:ext cx="10515600" cy="5208309"/>
              </a:xfrm>
              <a:blipFill>
                <a:blip r:embed="rId2"/>
                <a:stretch>
                  <a:fillRect l="-522" t="-1171" b="-1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F8EDF-42D2-6CEE-FAAC-D12AFE8CD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572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35C98-EC90-1DAB-1B83-C3BABF064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5B8212-4EF6-80E2-CD96-A1AA3A361E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Performance Metrics for the Extended Target Case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Why estimate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instead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>
                    <a:solidFill>
                      <a:srgbClr val="7030A0"/>
                    </a:solidFill>
                  </a:rPr>
                  <a:t>?</a:t>
                </a:r>
              </a:p>
              <a:p>
                <a:pPr lvl="2"/>
                <a:r>
                  <a:rPr lang="en-US" dirty="0"/>
                  <a:t>In the extended target case, the number of scatterers and their angles are unknown. </a:t>
                </a:r>
              </a:p>
              <a:p>
                <a:pPr lvl="2"/>
                <a:r>
                  <a:rPr lang="en-US" dirty="0"/>
                  <a:t>Therefore, the target response matrix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is estimated directly, instead of estimating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.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Vectorized radar model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vec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𝐘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⊗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𝐈</m:t>
                            </m:r>
                          </m:e>
                          <m: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sub>
                        </m:sSub>
                      </m:e>
                    </m:d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𝐠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b="0" dirty="0"/>
                  <a:t>                                                           (10)</a:t>
                </a:r>
                <a:endParaRPr lang="ar-AE" b="0" dirty="0"/>
              </a:p>
              <a:p>
                <a:pPr lvl="2"/>
                <a:r>
                  <a:rPr lang="en-US" dirty="0"/>
                  <a:t>Where,</a:t>
                </a:r>
              </a:p>
              <a:p>
                <a:pPr lvl="3"/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𝐠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vec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vec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Fisher Information Matrix (FIM)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ar-AE" b="1" i="0">
                        <a:latin typeface="Cambria Math" panose="02040503050406030204" pitchFamily="18" charset="0"/>
                      </a:rPr>
                      <m:t>𝐉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nor/>
                      </m:rPr>
                      <a:rPr lang="ar-AE" i="1"/>
                      <m:t> 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⊗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nor/>
                      </m:rPr>
                      <a:rPr lang="ar-AE" i="1"/>
                      <m:t> 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⊗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Rank-deficiency of the original DFRC signal</a:t>
                </a:r>
              </a:p>
              <a:p>
                <a:pPr lvl="2"/>
                <a:r>
                  <a:rPr lang="en-US" dirty="0"/>
                  <a:t>From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We have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𝑟𝑎𝑛𝑘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𝐷𝐹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𝑟𝑎𝑛𝑘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)}</m:t>
                        </m:r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ar-AE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ar-AE" b="0" dirty="0"/>
              </a:p>
              <a:p>
                <a:pPr lvl="4"/>
                <a14:m>
                  <m:oMath xmlns:m="http://schemas.openxmlformats.org/officeDocument/2006/math">
                    <m:r>
                      <a:rPr lang="en-US" sz="1400" b="1" i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1400" dirty="0"/>
                  <a:t> is rank-deficient. </a:t>
                </a:r>
              </a:p>
              <a:p>
                <a:pPr lvl="4"/>
                <a:r>
                  <a:rPr lang="en-US" sz="1400" dirty="0"/>
                  <a:t>Hence, the available </a:t>
                </a:r>
                <a:r>
                  <a:rPr lang="en-US" sz="1400" dirty="0" err="1"/>
                  <a:t>DoFs</a:t>
                </a:r>
                <a:r>
                  <a:rPr lang="en-US" sz="1400" dirty="0"/>
                  <a:t> are insufficient to recover the full-rank matrix </a:t>
                </a:r>
                <a14:m>
                  <m:oMath xmlns:m="http://schemas.openxmlformats.org/officeDocument/2006/math">
                    <m:r>
                      <a:rPr lang="en-US" sz="1400" b="1" i="0">
                        <a:latin typeface="Cambria Math" panose="02040503050406030204" pitchFamily="18" charset="0"/>
                      </a:rPr>
                      <m:t>𝐆</m:t>
                    </m:r>
                  </m:oMath>
                </a14:m>
                <a:r>
                  <a:rPr lang="en-US" sz="1400" dirty="0"/>
                  <a:t>. </a:t>
                </a:r>
              </a:p>
              <a:p>
                <a:pPr lvl="4"/>
                <a:r>
                  <a:rPr lang="en-US" sz="1400" dirty="0"/>
                  <a:t>As a result, the FIM </a:t>
                </a:r>
                <a14:m>
                  <m:oMath xmlns:m="http://schemas.openxmlformats.org/officeDocument/2006/math">
                    <m:r>
                      <a:rPr lang="en-US" sz="1400" b="1" i="0">
                        <a:latin typeface="Cambria Math" panose="02040503050406030204" pitchFamily="18" charset="0"/>
                      </a:rPr>
                      <m:t>𝐉</m:t>
                    </m:r>
                  </m:oMath>
                </a14:m>
                <a:r>
                  <a:rPr lang="en-US" sz="1400" dirty="0"/>
                  <a:t> becomes singular.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5B8212-4EF6-80E2-CD96-A1AA3A361E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 t="-1348" b="-20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442A0-5022-FB30-6B9F-482EA97D2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411759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9957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F0F95-D15B-35AC-515F-BF8B7DFD4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1EE221-0620-38BD-8915-6CB7588190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Short derivation block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Derivation of (10)</a:t>
                </a:r>
              </a:p>
              <a:p>
                <a:pPr lvl="2"/>
                <a:r>
                  <a:rPr lang="en-US" dirty="0"/>
                  <a:t>Starting from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𝐆𝐗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apply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vec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ar-AE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vec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>
                                <a:latin typeface="Cambria Math" panose="02040503050406030204" pitchFamily="18" charset="0"/>
                              </a:rPr>
                              <m:t>𝐘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vec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𝐆𝐗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vec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Using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vec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𝐀𝐁𝐂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d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vec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</m:d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sub>
                    </m:sSub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r>
                      <a:rPr lang="ar-AE" b="1" i="0">
                        <a:latin typeface="Cambria Math" panose="02040503050406030204" pitchFamily="18" charset="0"/>
                      </a:rPr>
                      <m:t>𝐁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𝐆</m:t>
                    </m:r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𝐂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 we get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⊗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𝐈</m:t>
                            </m:r>
                          </m:e>
                          <m: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sub>
                        </m:sSub>
                      </m:e>
                    </m:d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𝐠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1EE221-0620-38BD-8915-6CB758819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3AD97-87DB-9F5B-DA94-998DC465B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816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7A6BF-A78C-935F-5104-16549055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079974-9B54-A0FF-EFA9-78F4757180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1"/>
                <a:ext cx="10809914" cy="5258643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Performance Metrics for the Extended Target Case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Augmented probing design</a:t>
                </a:r>
              </a:p>
              <a:p>
                <a:pPr lvl="2"/>
                <a:r>
                  <a:rPr lang="en-US" dirty="0"/>
                  <a:t>To increase the radar </a:t>
                </a:r>
                <a:r>
                  <a:rPr lang="en-US" dirty="0" err="1"/>
                  <a:t>DoFs</a:t>
                </a:r>
                <a:r>
                  <a:rPr lang="en-US" dirty="0"/>
                  <a:t>, dedicated probing streams are added: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𝐒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𝐒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en-US" b="0" dirty="0"/>
                  <a:t>       (13)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acc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</m:acc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b="0" dirty="0"/>
                  <a:t>          (14)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….,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b="0" dirty="0"/>
                  <a:t>    (15)</a:t>
                </a:r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Full-rank sample covariance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en-US" b="0" dirty="0"/>
                  <a:t>        (16)</a:t>
                </a:r>
                <a:endParaRPr lang="ar-AE" b="0" dirty="0"/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dirty="0"/>
                  <a:t> is now full rank, it is invertible.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CRB for the extended target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𝐉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m:rPr>
                        <m:nor/>
                      </m:rPr>
                      <a:rPr lang="ar-AE" i="1"/>
                      <m:t> 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b="0" dirty="0"/>
                  <a:t>    (17)</a:t>
                </a:r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Modified per-user SINR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∣"/>
                                <m:endChr m:val="∣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ar-AE" i="1"/>
                              <m:t>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∣"/>
                                    <m:endChr m:val="∣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𝐡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𝐰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∥"/>
                                <m:endChr m:val="∥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𝐕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b="0" dirty="0"/>
                  <a:t>         (18)</a:t>
                </a:r>
                <a:endParaRPr lang="ar-AE" b="0" dirty="0"/>
              </a:p>
              <a:p>
                <a:pPr lvl="2"/>
                <a:r>
                  <a:rPr lang="en-US" dirty="0"/>
                  <a:t>However, they also create extra interference to communication users </a:t>
                </a:r>
              </a:p>
              <a:p>
                <a:pPr lvl="2"/>
                <a:r>
                  <a:rPr lang="en-US" dirty="0"/>
                  <a:t>Which appears in the denominator of (18).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079974-9B54-A0FF-EFA9-78F4757180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1"/>
                <a:ext cx="10809914" cy="5258643"/>
              </a:xfrm>
              <a:blipFill>
                <a:blip r:embed="rId2"/>
                <a:stretch>
                  <a:fillRect l="-508" t="-1160" b="-2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B4D7E-AA48-054B-24AA-1540F538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8620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72E0C-6D89-BDAE-7DE6-C4ADAFAEB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AB848A-518A-D2F6-3E06-A0ED30C599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Derivation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Derivation of (16)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acc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ar-AE" b="1" i="0">
                        <a:latin typeface="Cambria Math" panose="02040503050406030204" pitchFamily="18" charset="0"/>
                      </a:rPr>
                      <m:t>𝐗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acc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</m:acc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acc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</m:acc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Derivation of (17)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𝐉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⊗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⊗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sub>
                    </m:sSub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𝐉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</m:e>
                    </m:fun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⊗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𝐈</m:t>
                            </m:r>
                          </m:e>
                          <m: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d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</m:d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AB848A-518A-D2F6-3E06-A0ED30C599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78E97-B999-9742-B93E-50DDEB443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810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4ED1F-5EAC-5C5E-B941-87AA864A2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FBD30D-69EF-905A-CCED-16AF657BB3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A. Problem Formulation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Optimization Problem</a:t>
                </a:r>
              </a:p>
              <a:p>
                <a:pPr lvl="2"/>
                <a:r>
                  <a:rPr lang="en-US" dirty="0"/>
                  <a:t>For a fixed target direction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, the beamforming design is formulated as</a:t>
                </a:r>
              </a:p>
              <a:p>
                <a:pPr lvl="3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𝐷𝐹</m:t>
                            </m:r>
                          </m:sub>
                        </m:sSub>
                      </m:lim>
                    </m:limLow>
                    <m:r>
                      <a:rPr lang="en-US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subject to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b="0" dirty="0"/>
                  <a:t>                                                                                       (19)</a:t>
                </a:r>
                <a:endParaRPr lang="ar-AE" b="0" dirty="0"/>
              </a:p>
              <a:p>
                <a:pPr lvl="2"/>
                <a:r>
                  <a:rPr lang="en-US" dirty="0"/>
                  <a:t>Minimize radar angle-estimation error bound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The CRB is a function of the beamforming matrix: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𝐷𝐹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𝐷𝐹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d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Thus, minimizing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can be interpreted as optimizing the beamformer toward the direction of        interest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FBD30D-69EF-905A-CCED-16AF657BB3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r="-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72B0A-E43F-C223-DFEE-FD46351CA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560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FD8CB-FD18-9B8B-0989-6A67B4690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059D89-1370-6F6A-4449-ACD5734083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ULA Structure</a:t>
                </a:r>
              </a:p>
              <a:p>
                <a:pPr lvl="1"/>
                <a:r>
                  <a:rPr lang="en-US" dirty="0"/>
                  <a:t>Let there be only one communication user. Then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Transmit steering vector</a:t>
                </a:r>
              </a:p>
              <a:p>
                <a:pPr lvl="2"/>
                <a:r>
                  <a:rPr lang="en-US" dirty="0"/>
                  <a:t>For an even number of antennas,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….., 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b="0" dirty="0"/>
                  <a:t>    (20)</a:t>
                </a:r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Derivative of steering vector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f>
                              <m:f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,…..,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sub>
                            </m:sSub>
                            <m:f>
                              <m:f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          (21)</a:t>
                </a:r>
                <a:endParaRPr lang="ar-AE" dirty="0"/>
              </a:p>
              <a:p>
                <a:pPr lvl="2"/>
                <a:r>
                  <a:rPr lang="en-US" dirty="0"/>
                  <a:t>Similarly, the receive steering vector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𝐛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and its derivative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ac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have the same form.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Orthogonality due to array symmetry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b="0" dirty="0"/>
                  <a:t>    (22)</a:t>
                </a:r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Why (22) is useful</a:t>
                </a:r>
              </a:p>
              <a:p>
                <a:pPr lvl="2"/>
                <a:r>
                  <a:rPr lang="en-US" dirty="0"/>
                  <a:t>These orthogonality relations simplify the CRB terms in (7), </a:t>
                </a:r>
              </a:p>
              <a:p>
                <a:pPr lvl="2"/>
                <a:r>
                  <a:rPr lang="en-US" dirty="0"/>
                  <a:t>Especially the cross terms involving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𝐀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 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ac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ar-AE" dirty="0"/>
                  <a:t>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059D89-1370-6F6A-4449-ACD5734083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BAE5F-8019-8B03-45E2-F8A6601C7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979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7F0BF-8302-586E-AD3E-7430D3817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7AE6BE-D2F3-EA25-ED5E-C5D1B2E499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Trace Simplification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Define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≜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𝐀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𝐛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≜</m:t>
                    </m:r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ac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acc>
                    <m:r>
                      <m:rPr>
                        <m:nor/>
                      </m:rPr>
                      <a:rPr lang="ar-AE" i="1"/>
                      <m:t> 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𝐛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acc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ar-AE" dirty="0"/>
                  <a:t>, </a:t>
                </a:r>
                <a:r>
                  <a:rPr lang="en-US" dirty="0"/>
                  <a:t>we simplify each term in the CRB.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First trace term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=∥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𝐛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Cross trace term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acc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̇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𝐛</m:t>
                                    </m:r>
                                  </m:e>
                                </m:acc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𝐚</m:t>
                                    </m:r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𝐛</m:t>
                                </m:r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𝐚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 the surviving term becomes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acc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=∥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𝐛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ar-AE" i="1"/>
                      <m:t> 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ar-AE" i="1"/>
                      <m:t> 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acc>
                  </m:oMath>
                </a14:m>
                <a:endParaRPr lang="en-US" b="1" dirty="0"/>
              </a:p>
              <a:p>
                <a:pPr lvl="2"/>
                <a:r>
                  <a:rPr lang="ar-AE" b="1" dirty="0"/>
                  <a:t> </a:t>
                </a:r>
                <a:r>
                  <a:rPr lang="en-US" dirty="0">
                    <a:solidFill>
                      <a:srgbClr val="7030A0"/>
                    </a:solidFill>
                  </a:rPr>
                  <a:t>Derivative trace term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acc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acc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=∥</m:t>
                    </m:r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acc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+∥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𝐛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acc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/>
                  <a:t>                                                  (23)</a:t>
                </a:r>
                <a:endParaRPr lang="ar-AE" b="0" dirty="0"/>
              </a:p>
              <a:p>
                <a:pPr lvl="2"/>
                <a:r>
                  <a:rPr lang="en-US" dirty="0"/>
                  <a:t>Equation (23) is obtained by expanding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acc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acc>
                  </m:oMath>
                </a14:m>
                <a:r>
                  <a:rPr lang="en-US" dirty="0"/>
                  <a:t> and eliminating the mixed terms using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 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7AE6BE-D2F3-EA25-ED5E-C5D1B2E499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6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108D5-0497-7BDA-934A-3F659586E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386593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9870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95C7F-A44C-13BA-224B-608FC53E2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C15917-00D1-9E32-406B-D641F4CDCE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CRB Simplification</a:t>
                </a:r>
              </a:p>
              <a:p>
                <a:r>
                  <a:rPr lang="en-US" dirty="0"/>
                  <a:t>Substituting (23) into the point-target CRB in (7), the CRB reduces to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</m:acc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Equivalent reformulation</a:t>
                </a:r>
              </a:p>
              <a:p>
                <a:pPr lvl="2"/>
                <a:r>
                  <a:rPr lang="en-US" dirty="0"/>
                  <a:t>Since all terms except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are constants,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 ⟺ 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subject to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b="0" dirty="0"/>
                  <a:t>                                                                                                         (25)</a:t>
                </a:r>
                <a:endParaRPr lang="ar-AE" b="0" dirty="0"/>
              </a:p>
              <a:p>
                <a:pPr lvl="2"/>
                <a:r>
                  <a:rPr lang="en-US" dirty="0"/>
                  <a:t>Thus, CRB minimization becomes a </a:t>
                </a:r>
                <a:r>
                  <a:rPr lang="en-US" dirty="0">
                    <a:solidFill>
                      <a:srgbClr val="7030A0"/>
                    </a:solidFill>
                  </a:rPr>
                  <a:t>directional power maximization problem: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en-US" b="0"/>
                      <m:t>aximize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radiation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power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toward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angle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b="0" dirty="0"/>
              </a:p>
              <a:p>
                <a:pPr lvl="3"/>
                <a:r>
                  <a:rPr lang="en-US" dirty="0"/>
                  <a:t>While satisfying the user SINR and power constraints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C15917-00D1-9E32-406B-D641F4CDCE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A12A3-6328-6BC7-2BD6-12245031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77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680E9-DEEF-E07D-172A-4B0B1832B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B1617B-3AE2-3E12-E7B4-6D3376D3A6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Derivation from (24) to (25)</a:t>
                </a:r>
              </a:p>
              <a:p>
                <a:pPr lvl="1"/>
                <a:r>
                  <a:rPr lang="en-US" dirty="0"/>
                  <a:t>From (24),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Where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</m:acc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is constant.</a:t>
                </a:r>
              </a:p>
              <a:p>
                <a:pPr lvl="2"/>
                <a:r>
                  <a:rPr lang="en-US" dirty="0"/>
                  <a:t>Therefore,</a:t>
                </a:r>
              </a:p>
              <a:p>
                <a:pPr lvl="3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Which is equivalent to</a:t>
                </a:r>
              </a:p>
              <a:p>
                <a:pPr lvl="3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Because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is fixed.</a:t>
                </a:r>
              </a:p>
              <a:p>
                <a:pPr lvl="2"/>
                <a:r>
                  <a:rPr lang="en-US" dirty="0"/>
                  <a:t>Hence the optimization becomes</a:t>
                </a:r>
              </a:p>
              <a:p>
                <a:pPr lvl="3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3"/>
                <a:r>
                  <a:rPr lang="en-US" dirty="0"/>
                  <a:t>Subject to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B1617B-3AE2-3E12-E7B4-6D3376D3A6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3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C710C-629B-56C9-F0FF-050812912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1" y="6356350"/>
            <a:ext cx="516622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9059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DE3F7-9437-C128-BEF3-4D16163DE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890298-CB70-1300-17C3-F65B2F89BE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Lemma 1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Lemma 1</a:t>
                </a:r>
              </a:p>
              <a:p>
                <a:pPr lvl="1"/>
                <a:r>
                  <a:rPr lang="en-US" dirty="0"/>
                  <a:t>The optimal solution of (25) satisfies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span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b="0" dirty="0"/>
                  <a:t>                                                                                                                  (26)</a:t>
                </a:r>
                <a:endParaRPr lang="ar-AE" b="0" dirty="0"/>
              </a:p>
              <a:p>
                <a:pPr lvl="1"/>
                <a:r>
                  <a:rPr lang="en-US" dirty="0"/>
                  <a:t>The optimal beamformer lies in the 2-dimensional subspace generated by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Hence, no component outside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span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is needed in the optimum.</a:t>
                </a:r>
              </a:p>
              <a:p>
                <a:pPr lvl="1"/>
                <a:r>
                  <a:rPr lang="en-US" dirty="0"/>
                  <a:t>Consider any optimal solution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. </a:t>
                </a:r>
                <a:r>
                  <a:rPr lang="en-US" dirty="0"/>
                  <a:t>Decompose it as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b="0" dirty="0"/>
                  <a:t>                                                                                                                  (50)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∥=∥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∥=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span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⊥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span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SINR contribution</a:t>
                </a:r>
              </a:p>
              <a:p>
                <a:pPr lvl="2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only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dirty="0"/>
                  <a:t> contributes to the SINR: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=∣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b="0" dirty="0"/>
                  <a:t>  (51a)</a:t>
                </a:r>
                <a:endParaRPr lang="ar-AE" b="0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890298-CB70-1300-17C3-F65B2F89BE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9DF2D-8FB6-B6EC-2602-79E3695DC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199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AEFC8-863E-50B3-76F0-79389F944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5582A0-3D50-D3F6-AD4E-4758A4833B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Lemma 1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Lemma 1</a:t>
                </a:r>
              </a:p>
              <a:p>
                <a:pPr lvl="1"/>
                <a:r>
                  <a:rPr lang="en-US" dirty="0">
                    <a:solidFill>
                      <a:srgbClr val="002060"/>
                    </a:solidFill>
                  </a:rPr>
                  <a:t>Power constraint</a:t>
                </a:r>
              </a:p>
              <a:p>
                <a:pPr lvl="2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=∥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  (51b)</a:t>
                </a:r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Objective</a:t>
                </a:r>
              </a:p>
              <a:p>
                <a:pPr lvl="2"/>
                <a:r>
                  <a:rPr lang="en-US" dirty="0"/>
                  <a:t>Also,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⊥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𝐚</m:t>
                    </m:r>
                  </m:oMath>
                </a14:m>
                <a:r>
                  <a:rPr lang="ar-AE" dirty="0"/>
                  <a:t>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=∣</m:t>
                    </m:r>
                    <m:r>
                      <m:rPr>
                        <m:sty m:val="p"/>
                      </m:rPr>
                      <a:rPr lang="ar-AE" b="0" i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ar-AE" b="0" i="0"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does not help the objective, and does not help the SINR, but it consumes power.</a:t>
                </a:r>
              </a:p>
              <a:p>
                <a:pPr lvl="2"/>
                <a:r>
                  <a:rPr lang="en-US" dirty="0"/>
                  <a:t>Set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rad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Then the objective is strictly increased without violating the constraints. Therefore,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span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Which </a:t>
                </a:r>
                <a:r>
                  <a:rPr lang="en-US" dirty="0">
                    <a:solidFill>
                      <a:srgbClr val="0000FF"/>
                    </a:solidFill>
                  </a:rPr>
                  <a:t>proves Lemma 1</a:t>
                </a:r>
                <a:r>
                  <a:rPr lang="en-US" dirty="0"/>
                  <a:t>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5582A0-3D50-D3F6-AD4E-4758A4833B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530B2-D9BD-182C-7B8A-D2F02266B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853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163EA-7915-87C4-AB31-C03D3390C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1F97E1-6EE5-A13F-9A9E-5E84809EB3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Theorem 1</a:t>
                </a:r>
              </a:p>
              <a:p>
                <a:pPr lvl="1"/>
                <a:r>
                  <a:rPr lang="en-US" dirty="0"/>
                  <a:t>Using Lemma 1, the optimal solution to (25) is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</m:e>
                              </m:rad>
                              <m:r>
                                <m:rPr>
                                  <m:nor/>
                                </m:rPr>
                                <a:rPr lang="ar-AE" i="1"/>
                                <m:t> </m:t>
                              </m:r>
                              <m:f>
                                <m:f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num>
                                <m:den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den>
                              </m:f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i="1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1" smtClean="0"/>
                                <m:t> 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𝐡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p>
                              </m:sSubSup>
                              <m:r>
                                <a:rPr lang="ar-AE" b="1" i="0"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>
                                      <a:latin typeface="Cambria Math" panose="02040503050406030204" pitchFamily="18" charset="0"/>
                                    </a:rPr>
                                    <m:t>Γ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b="0" dirty="0"/>
                  <a:t>        (27)</a:t>
                </a:r>
                <a:endParaRPr lang="ar-AE" b="0" dirty="0"/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d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d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den>
                    </m:f>
                  </m:oMath>
                </a14:m>
                <a:r>
                  <a:rPr lang="en-US" b="0" dirty="0"/>
                  <a:t>                                                    (28)</a:t>
                </a:r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m:rPr>
                        <m:nor/>
                      </m:rPr>
                      <a:rPr lang="ar-AE" i="1"/>
                      <m:t> 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m:rPr>
                        <m:nor/>
                      </m:rPr>
                      <a:rPr lang="ar-AE" i="1"/>
                      <m:t> 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den>
                    </m:f>
                  </m:oMath>
                </a14:m>
                <a:r>
                  <a:rPr lang="en-US" b="0" dirty="0"/>
                  <a:t>                                          (29)</a:t>
                </a:r>
                <a:endParaRPr lang="ar-AE" b="0" dirty="0"/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Case 1: </a:t>
                </a:r>
                <a:r>
                  <a:rPr lang="en-US" dirty="0"/>
                  <a:t>the SINR constraint is inactive 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Case 2: </a:t>
                </a:r>
                <a:r>
                  <a:rPr lang="en-US" dirty="0"/>
                  <a:t>the SINR constraint is active, so the beamformer must balance the user direction and the           target direction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1F97E1-6EE5-A13F-9A9E-5E84809EB3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r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BA86B-E180-3167-146E-3D7581E18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453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0A794-B9F4-9CAD-6201-9EE36F1B2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3315FD-82D8-4277-67ED-F77F74C1AF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Proof of Theorem 1 (Part I)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1: Full power must be used</a:t>
                </a:r>
              </a:p>
              <a:p>
                <a:pPr lvl="2"/>
                <a:r>
                  <a:rPr lang="en-US" dirty="0"/>
                  <a:t>Suppose an optimal solution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satisfies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Now define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num>
                          <m:den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</m:den>
                        </m:f>
                      </m:e>
                    </m:rad>
                    <m:r>
                      <m:rPr>
                        <m:nor/>
                      </m:rPr>
                      <a:rPr lang="ar-AE" i="1"/>
                      <m:t> 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&gt;∣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Hence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feasible and yields a strictly larger objective.</a:t>
                </a:r>
              </a:p>
              <a:p>
                <a:pPr lvl="1"/>
                <a:r>
                  <a:rPr lang="en-US" dirty="0"/>
                  <a:t>At optimum,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3315FD-82D8-4277-67ED-F77F74C1AF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B9CA1-CD62-1CBC-70E0-9AFAD6935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916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2E31D-9131-197E-28AA-49CD6E965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D019C4-6CE4-44E6-4CF4-F631D8AE1F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Proof of Theorem 1 (Part I)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2: Inactive SINR case</a:t>
                </a:r>
              </a:p>
              <a:p>
                <a:pPr lvl="2"/>
                <a:r>
                  <a:rPr lang="en-US" dirty="0"/>
                  <a:t>If the SINR constraint is inactive, all power should be allocated along the target direction: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rad>
                    <m:r>
                      <m:rPr>
                        <m:nor/>
                      </m:rPr>
                      <a:rPr lang="ar-AE" i="1"/>
                      <m:t> 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den>
                    </m:f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This is valid if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Substituting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rad>
                    <m:r>
                      <m:rPr>
                        <m:nor/>
                      </m:rPr>
                      <a:rPr lang="ar-AE" i="1"/>
                      <m:t> 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ar-AE">
                        <a:latin typeface="Cambria Math" panose="02040503050406030204" pitchFamily="18" charset="0"/>
                      </a:rPr>
                      <m:t>/∥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𝐚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/>
                  <a:t>,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Or equivalently,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 b="1" i="0">
                        <a:latin typeface="Cambria Math" panose="02040503050406030204" pitchFamily="18" charset="0"/>
                      </a:rPr>
                      <m:t>𝐚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Which gives the first case of (27).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D019C4-6CE4-44E6-4CF4-F631D8AE1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71771-DDB4-37EF-556A-68C0C63F5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8992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90DE3-2915-5FD8-BCBD-2EAF65099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86458E-A2FF-F935-0854-6224D8E2E0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Proof of Theorem 1 (Part II)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3: Active SINR case</a:t>
                </a:r>
              </a:p>
              <a:p>
                <a:pPr lvl="2"/>
                <a:r>
                  <a:rPr lang="en-US" dirty="0"/>
                  <a:t>From Lemma 1,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span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Choose the orthonormal basis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d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d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den>
                    </m:f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Then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       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 b="0" dirty="0"/>
                  <a:t>                                (54)</a:t>
                </a:r>
                <a:endParaRPr lang="ar-AE" b="0" dirty="0"/>
              </a:p>
              <a:p>
                <a:pPr lvl="2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en-US" dirty="0"/>
                  <a:t> we have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And the active SINR constraint becomes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Also, since the optimum uses full power,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86458E-A2FF-F935-0854-6224D8E2E0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7BDAE-2F0D-277B-386B-87803E5D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1" y="6356350"/>
            <a:ext cx="755708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745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D9CF4-67BC-FE0B-67DA-3BF627CE2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99C156-1224-52A2-375A-2C970F6D79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Proof of Theorem 1 (Part II)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3: Active SINR case</a:t>
                </a:r>
              </a:p>
              <a:p>
                <a:pPr lvl="2"/>
                <a:r>
                  <a:rPr lang="en-US" dirty="0"/>
                  <a:t>So, the problem becomes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lim>
                    </m:limLow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d>
                          <m:dPr>
                            <m:begChr m:val="∣"/>
                            <m:endChr m:val="∣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subject to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                                                (55)</a:t>
                </a:r>
                <a:endParaRPr lang="ar-AE" dirty="0"/>
              </a:p>
              <a:p>
                <a:pPr lvl="2"/>
                <a:r>
                  <a:rPr lang="en-US" dirty="0"/>
                  <a:t>Hence,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                                                 (56)</a:t>
                </a:r>
                <a:endParaRPr lang="ar-AE" dirty="0"/>
              </a:p>
              <a:p>
                <a:pPr lvl="2"/>
                <a:r>
                  <a:rPr lang="en-US" dirty="0"/>
                  <a:t>To maximize the objective, choose the phases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aligned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en-US" dirty="0"/>
                  <a:t>respectively.    This yields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m:rPr>
                        <m:nor/>
                      </m:rPr>
                      <a:rPr lang="ar-AE" i="1"/>
                      <m:t> 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den>
                    </m:f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m:rPr>
                        <m:nor/>
                      </m:rPr>
                      <a:rPr lang="ar-AE" i="1"/>
                      <m:t> 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den>
                    </m:f>
                  </m:oMath>
                </a14:m>
                <a:endParaRPr lang="ar-AE" dirty="0"/>
              </a:p>
              <a:p>
                <a:pPr lvl="3"/>
                <a:r>
                  <a:rPr lang="en-US" dirty="0"/>
                  <a:t>Which gives the second case of (27).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99C156-1224-52A2-375A-2C970F6D79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r="-1043" b="-16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61D4D-842F-92BA-5830-C42B46E44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1286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A3337-3C73-B7A1-6E76-41E03D8AD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1B1713-8F43-8AE7-6568-23EA4ACFB9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</a:t>
                </a:r>
              </a:p>
              <a:p>
                <a:pPr lvl="1"/>
                <a:r>
                  <a:rPr lang="en-US" dirty="0"/>
                  <a:t>From (7), the point-target CRB has a fractional non-convex form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ar-AE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p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tr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ar-AE" b="1" i="0">
                                                <a:latin typeface="Cambria Math" panose="02040503050406030204" pitchFamily="18" charset="0"/>
                                              </a:rPr>
                                              <m:t>𝐀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̇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𝐀</m:t>
                                        </m:r>
                                      </m:e>
                                    </m:acc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𝐑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⁡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p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∣"/>
                                    <m:endChr m:val="∣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tr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⁡</m:t>
                                    </m:r>
                                    <m:d>
                                      <m:d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acc>
                                              <m:accPr>
                                                <m:chr m:val="̇"/>
                                                <m:ctrlPr>
                                                  <a:rPr lang="ar-AE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ar-AE" b="1" i="0">
                                                    <a:latin typeface="Cambria Math" panose="02040503050406030204" pitchFamily="18" charset="0"/>
                                                  </a:rPr>
                                                  <m:t>𝐀</m:t>
                                                </m:r>
                                              </m:e>
                                            </m:acc>
                                          </m:e>
                                          <m:sup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𝐻</m:t>
                                            </m:r>
                                          </m:sup>
                                        </m:sSup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𝐀</m:t>
                                        </m:r>
                                        <m:sSub>
                                          <m:sSub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 b="1" i="0">
                                                <a:latin typeface="Cambria Math" panose="02040503050406030204" pitchFamily="18" charset="0"/>
                                              </a:rPr>
                                              <m:t>𝐑</m:t>
                                            </m:r>
                                          </m:e>
                                          <m:sub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Let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≜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⁡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𝐀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p>
                                <m:acc>
                                  <m:accPr>
                                    <m:chr m:val="̇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</m:acc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⁡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p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∣"/>
                                    <m:endChr m:val="∣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tr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⁡</m:t>
                                    </m:r>
                                    <m:d>
                                      <m:d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acc>
                                              <m:accPr>
                                                <m:chr m:val="̇"/>
                                                <m:ctrlPr>
                                                  <a:rPr lang="ar-AE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ar-AE" b="1" i="0">
                                                    <a:latin typeface="Cambria Math" panose="02040503050406030204" pitchFamily="18" charset="0"/>
                                                  </a:rPr>
                                                  <m:t>𝐀</m:t>
                                                </m:r>
                                              </m:e>
                                            </m:acc>
                                          </m:e>
                                          <m:sup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𝐻</m:t>
                                            </m:r>
                                          </m:sup>
                                        </m:sSup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𝐀</m:t>
                                        </m:r>
                                        <m:sSub>
                                          <m:sSub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 b="1" i="0">
                                                <a:latin typeface="Cambria Math" panose="02040503050406030204" pitchFamily="18" charset="0"/>
                                              </a:rPr>
                                              <m:t>𝐑</m:t>
                                            </m:r>
                                          </m:e>
                                          <m:sub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p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Then minimizing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is equivalent to maximizing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or equivalently minimizing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Proposition 1</a:t>
                </a:r>
              </a:p>
              <a:p>
                <a:pPr lvl="1"/>
                <a:r>
                  <a:rPr lang="en-US" dirty="0"/>
                  <a:t>Minimizing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is equivalent to solving</a:t>
                </a:r>
              </a:p>
              <a:p>
                <a:pPr lvl="1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⪰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ar-AE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𝐀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̇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̇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𝐀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       (30)</a:t>
                </a:r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1B1713-8F43-8AE7-6568-23EA4ACFB9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6749F-86C8-80F2-48C4-67E768D93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265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D199B-CD37-A18D-743A-1787F9059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9E1E93-45F9-51E9-A7FC-E3638F9A07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Proposition 1</a:t>
                </a:r>
              </a:p>
              <a:p>
                <a:pPr lvl="1"/>
                <a:r>
                  <a:rPr lang="en-US" dirty="0"/>
                  <a:t>Minimizing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is equivalent to solving</a:t>
                </a:r>
              </a:p>
              <a:p>
                <a:pPr lvl="1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⪰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𝐀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̇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̇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𝐀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                                                                               (30)</a:t>
                </a:r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Schur complement derivation</a:t>
                </a:r>
              </a:p>
              <a:p>
                <a:pPr lvl="2"/>
                <a:r>
                  <a:rPr lang="en-US" dirty="0"/>
                  <a:t>For a </a:t>
                </a:r>
                <a:r>
                  <a:rPr lang="en-US" dirty="0">
                    <a:solidFill>
                      <a:srgbClr val="002060"/>
                    </a:solidFill>
                  </a:rPr>
                  <a:t>Hermitian matrix</a:t>
                </a:r>
              </a:p>
              <a:p>
                <a:pPr lvl="3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 Schur complement gives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9E1E93-45F9-51E9-A7FC-E3638F9A07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DE450-98E5-CCA8-DE26-E400C15B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48169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DA5A0-8E10-A9DB-494A-88C4E62A1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A3948B-000D-5920-E2F8-4D808D64D6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Proposition 1</a:t>
                </a:r>
              </a:p>
              <a:p>
                <a:pPr lvl="1"/>
                <a:r>
                  <a:rPr lang="en-US" dirty="0"/>
                  <a:t>Now set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acc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acc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acc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𝐀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Then (30) implies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acc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acc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∣"/>
                                <m:endChr m:val="∣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tr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𝐀</m:t>
                                        </m:r>
                                      </m:e>
                                      <m:sup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̇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𝐀</m:t>
                                        </m:r>
                                      </m:e>
                                    </m:acc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𝐑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or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ar-AE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acc>
                              <m:accPr>
                                <m:chr m:val="̇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acc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∣"/>
                                <m:endChr m:val="∣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tr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ar-AE" b="1" i="0">
                                                <a:latin typeface="Cambria Math" panose="02040503050406030204" pitchFamily="18" charset="0"/>
                                              </a:rPr>
                                              <m:t>𝐀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sup>
                                    </m:sSup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𝐑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𝐀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Thus, maximizing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reproduces the same CRB objective structure.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A3948B-000D-5920-E2F8-4D808D64D6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9DAC8-95AA-F30C-C300-E229A2BC0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5812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55BCE-291F-423B-89EA-3EF031315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745D04-AFA3-C9EA-CAF3-104A057408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</a:t>
                </a:r>
              </a:p>
              <a:p>
                <a:r>
                  <a:rPr lang="en-US" dirty="0">
                    <a:solidFill>
                      <a:srgbClr val="7030A0"/>
                    </a:solidFill>
                  </a:rPr>
                  <a:t>Rewriting the original multi-user problem</a:t>
                </a:r>
              </a:p>
              <a:p>
                <a:pPr lvl="1"/>
                <a:r>
                  <a:rPr lang="en-US" dirty="0"/>
                  <a:t>Since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Problem (19) becomes</a:t>
                </a:r>
              </a:p>
              <a:p>
                <a:pPr lvl="1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bSup>
                        <m:r>
                          <a:rPr lang="ar-AE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 smtClean="0"/>
                          <m:t> </m:t>
                        </m:r>
                        <m:sSub>
                          <m:sSubPr>
                            <m:ctrlPr>
                              <a:rPr lang="ar-A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ar-AE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 smtClean="0"/>
                          <m:t> </m:t>
                        </m:r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𝑡</m:t>
                        </m:r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𝐀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̇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̇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𝐀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ar-AE" i="1"/>
                              <m:t>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</m:nary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en-US" b="0" dirty="0"/>
                  <a:t>                                                                                                                (31)</a:t>
                </a:r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745D04-AFA3-C9EA-CAF3-104A057408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5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42E-64FF-AA95-2DCF-A8526700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0589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1842F-BAB0-3B47-2BF3-C715BF694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961B62-21F2-F56F-0D87-1757035788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Define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And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Hence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SINR constraint becomes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b="0" dirty="0"/>
                  <a:t>                                                                              (32)</a:t>
                </a:r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Rank condition</a:t>
                </a:r>
              </a:p>
              <a:p>
                <a:pPr lvl="2"/>
                <a:r>
                  <a:rPr lang="en-US" dirty="0"/>
                  <a:t>Since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The desired solution should satisfy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961B62-21F2-F56F-0D87-1757035788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91E2A-27D6-6302-DFF8-228DE3A2A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8530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3E930-9569-6A9C-817F-140D77843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822D07-8EFE-0B2F-1ED2-E43B6BA9F3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SDR step</a:t>
                </a:r>
              </a:p>
              <a:p>
                <a:pPr lvl="2"/>
                <a:r>
                  <a:rPr lang="en-US" dirty="0"/>
                  <a:t>Drop the non-convex rank-one constraints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dirty="0"/>
                  <a:t>. </a:t>
                </a:r>
                <a:r>
                  <a:rPr lang="en-US" dirty="0"/>
                  <a:t>Then (31) is relaxed to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bSup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subject to</a:t>
                </a:r>
              </a:p>
              <a:p>
                <a:pPr lvl="3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𝐀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̇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</m:acc>
                                  <m:nary>
                                    <m:naryPr>
                                      <m:chr m:val="∑"/>
                                      <m:limLoc m:val="subSup"/>
                                      <m:grow m:val="on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𝐖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𝑡𝑟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̇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</m:acc>
                                  <m:nary>
                                    <m:naryPr>
                                      <m:chr m:val="∑"/>
                                      <m:limLoc m:val="subSup"/>
                                      <m:grow m:val="on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𝐖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𝐀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  <m:nary>
                                    <m:naryPr>
                                      <m:chr m:val="∑"/>
                                      <m:limLoc m:val="subSup"/>
                                      <m:grow m:val="on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𝐖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  <m:nary>
                                    <m:naryPr>
                                      <m:chr m:val="∑"/>
                                      <m:limLoc m:val="subSup"/>
                                      <m:grow m:val="on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𝐖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b="0" dirty="0"/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</m:e>
                        </m:nary>
                      </m:fNam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                                         (33)</a:t>
                </a:r>
                <a:endParaRPr lang="ar-AE" b="0" dirty="0"/>
              </a:p>
              <a:p>
                <a:pPr lvl="2"/>
                <a:r>
                  <a:rPr lang="en-US" dirty="0"/>
                  <a:t>Objective is linear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LMI constraint is affine in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SINR constraints are linear in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Power constraint is linear </a:t>
                </a:r>
              </a:p>
              <a:p>
                <a:pPr lvl="2"/>
                <a:r>
                  <a:rPr lang="en-US" dirty="0"/>
                  <a:t>PSD constraints are convex </a:t>
                </a:r>
              </a:p>
              <a:p>
                <a:pPr lvl="2"/>
                <a:r>
                  <a:rPr lang="en-US" dirty="0"/>
                  <a:t>Therefore, (33) is an SDP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822D07-8EFE-0B2F-1ED2-E43B6BA9F3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9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DC1B8-5BE6-B678-4ADA-54ECDC8EF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7468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C6C81-477A-7CC7-EBF4-2E2525464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716879-1ABE-55E5-1916-8BCBAA4DFD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Theorem 2</a:t>
                </a:r>
              </a:p>
              <a:p>
                <a:pPr lvl="1"/>
                <a:r>
                  <a:rPr lang="en-US" dirty="0"/>
                  <a:t>Suppose that problem (33) is feasible. Let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Under the condition that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𝐇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acc>
                  </m:oMath>
                </a14:m>
                <a:r>
                  <a:rPr lang="en-US" dirty="0"/>
                  <a:t> is of full column rank, the optimal solution of (33) always satisfies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SDR is not only a relaxation </a:t>
                </a:r>
              </a:p>
              <a:p>
                <a:pPr lvl="1"/>
                <a:r>
                  <a:rPr lang="en-US" dirty="0"/>
                  <a:t>It is tight </a:t>
                </a:r>
              </a:p>
              <a:p>
                <a:pPr lvl="1"/>
                <a:r>
                  <a:rPr lang="en-US" dirty="0"/>
                  <a:t>Solving (33) yields the globally optimal solution of (31) in general </a:t>
                </a:r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𝐇</m:t>
                    </m:r>
                  </m:oMath>
                </a14:m>
                <a:r>
                  <a:rPr lang="en-US" dirty="0"/>
                  <a:t> is random with independently distributed entries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𝐇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acc>
                  </m:oMath>
                </a14:m>
                <a:r>
                  <a:rPr lang="en-US" dirty="0"/>
                  <a:t> is full column rank almost always 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716879-1ABE-55E5-1916-8BCBAA4DFD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87C83-8B4B-5D56-DC93-700D2D4E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9839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A00D9-EA64-B1BC-9E77-667BB9F49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A38126-8AD2-A8B3-1193-93DD09E84A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Case: KKT Setup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Dual variables</a:t>
                </a:r>
              </a:p>
              <a:p>
                <a:pPr lvl="2"/>
                <a:r>
                  <a:rPr lang="en-US" dirty="0"/>
                  <a:t>For problem (33), Appendix C introduces:</a:t>
                </a:r>
              </a:p>
              <a:p>
                <a:pPr lvl="2"/>
                <a:r>
                  <a:rPr lang="en-US" dirty="0"/>
                  <a:t>Scalar dual variables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,…..,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for the linear constraints</a:t>
                </a:r>
              </a:p>
              <a:p>
                <a:pPr lvl="2"/>
                <a:r>
                  <a:rPr lang="en-US" dirty="0"/>
                  <a:t>Matrix dual variables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……..,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  for the PSD constraints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Complementary conditions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ar-AE" i="1"/>
                              <m:t>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𝐙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                                                                                                                   (57)</a:t>
                </a:r>
                <a:endParaRPr lang="ar-AE" b="0" dirty="0"/>
              </a:p>
              <a:p>
                <a:pPr lvl="2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𝐀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̇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ar-AE" b="1" i="0">
                                              <a:latin typeface="Cambria Math" panose="02040503050406030204" pitchFamily="18" charset="0"/>
                                            </a:rPr>
                                            <m:t>𝐀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̇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𝐀</m:t>
                                      </m:r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p>
                                  </m:sSup>
                                  <m:r>
                                    <a:rPr lang="ar-AE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r>
                  <a:rPr lang="en-US" b="0" dirty="0"/>
                  <a:t>                                                                                            (58)</a:t>
                </a:r>
                <a:endParaRPr lang="ar-AE" b="0" dirty="0"/>
              </a:p>
              <a:p>
                <a:pPr lvl="2"/>
                <a:r>
                  <a:rPr lang="en-US" dirty="0"/>
                  <a:t>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the matrix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simplifies accordingly.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A38126-8AD2-A8B3-1193-93DD09E84A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626B3-5116-6AF2-014C-09CD9B316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3290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AFA21-FBF4-D4D7-8A82-39669B32E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E64DFF-D4C2-CA96-E044-32D23FD2DE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Case: KKT Setup</a:t>
                </a:r>
              </a:p>
              <a:p>
                <a:pPr lvl="1"/>
                <a:r>
                  <a:rPr lang="en-US" dirty="0" err="1">
                    <a:solidFill>
                      <a:srgbClr val="7030A0"/>
                    </a:solidFill>
                  </a:rPr>
                  <a:t>Lagrangian</a:t>
                </a:r>
                <a:r>
                  <a:rPr lang="en-US" dirty="0">
                    <a:solidFill>
                      <a:srgbClr val="7030A0"/>
                    </a:solidFill>
                  </a:rPr>
                  <a:t> stationarity</a:t>
                </a:r>
              </a:p>
              <a:p>
                <a:pPr lvl="1"/>
                <a:r>
                  <a:rPr lang="en-US" dirty="0"/>
                  <a:t>Let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                                                                   (60)</a:t>
                </a:r>
                <a:endParaRPr lang="ar-AE" dirty="0"/>
              </a:p>
              <a:p>
                <a:pPr lvl="1"/>
                <a:r>
                  <a:rPr lang="en-US" dirty="0"/>
                  <a:t>Then the stationarity conditions give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⟹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And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                      (61)</a:t>
                </a:r>
                <a:endParaRPr lang="ar-AE" dirty="0"/>
              </a:p>
              <a:p>
                <a:pPr lvl="1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US" dirty="0"/>
                  <a:t> is the matrix induced by the Schur-complement block.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E64DFF-D4C2-CA96-E044-32D23FD2DE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236F1-5FE7-7966-AFC7-92DA8C33D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0885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A6BBB-CFA8-2D77-9170-3336546FC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7D048B-D3D4-C0A5-0713-30F1ABFF73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Case: Rank-One Proof Idea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1: Structure of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:r>
                  <a:rPr lang="en-US" dirty="0"/>
                  <a:t>From Appendix C,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⪰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because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US" dirty="0"/>
                  <a:t> is built from the two-dimensional subspace spanned by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acc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And the PSD matrix associated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dirty="0"/>
                  <a:t> is strictly positive definite after using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US" dirty="0"/>
                  <a:t> contributes exactly rank 2.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2: Relation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From stationarity,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Where</a:t>
                </a:r>
              </a:p>
              <a:p>
                <a:pPr lvl="3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1">
                        <a:latin typeface="Cambria Math" panose="02040503050406030204" pitchFamily="18" charset="0"/>
                      </a:rPr>
                      <m:t>𝑭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7D048B-D3D4-C0A5-0713-30F1ABFF73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5CCB0-53CE-3E62-F3BF-FDCCB170C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3413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376EB-CF06-5FD2-5792-FA741765B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1B7647-634D-3739-11E5-0EB9B5A76C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Case: Rank-One Proof Idea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2: Relation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ar-AE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ar-AE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Since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1"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The range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must lie inside the null space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dirty="0"/>
                  <a:t>. </a:t>
                </a:r>
                <a:r>
                  <a:rPr lang="en-US" dirty="0"/>
                  <a:t>Therefore,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dim</m:t>
                        </m:r>
                      </m:fNam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𝒩</m:t>
                        </m:r>
                      </m:e>
                    </m:fun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So, if we can show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Then automatically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1B7647-634D-3739-11E5-0EB9B5A76C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A7574-3F35-F76B-A9DD-2762B4B5B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115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5A27A-0288-1780-9FA0-96C2D6292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F4A31C-1280-4937-6357-CA7699458C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Semidefinite Relaxation for the Multi-User Case: Rank-One Proof Idea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3: Case split in Appendix C</a:t>
                </a:r>
              </a:p>
              <a:p>
                <a:pPr lvl="1"/>
                <a:r>
                  <a:rPr lang="en-US" dirty="0"/>
                  <a:t>The proof splits the index set into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                 (69)</a:t>
                </a:r>
                <a:endParaRPr lang="ar-AE" dirty="0"/>
              </a:p>
              <a:p>
                <a:pPr lvl="1"/>
                <a:r>
                  <a:rPr lang="en-US" dirty="0"/>
                  <a:t>And analyzes three cases: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Case I: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∣=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Case II: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∣=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Case III: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∣≥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Appendix C proves:</a:t>
                </a:r>
              </a:p>
              <a:p>
                <a:pPr lvl="2"/>
                <a:r>
                  <a:rPr lang="en-US" dirty="0"/>
                  <a:t>Case I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Case II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rank-one optimal solution can be constructed </a:t>
                </a:r>
              </a:p>
              <a:p>
                <a:pPr lvl="2"/>
                <a:r>
                  <a:rPr lang="en-US" dirty="0"/>
                  <a:t>Case III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if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acc>
                  </m:oMath>
                </a14:m>
                <a:r>
                  <a:rPr lang="en-US" dirty="0"/>
                  <a:t> is full column rank, then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have rank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hence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Thus Theorem 2 follows.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F4A31C-1280-4937-6357-CA7699458C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DA6CE-5FE7-12AC-6D42-365E4B4F2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8844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7CDD9-0758-B147-8233-957583953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9BDD2F-4FB9-9813-D80E-CA9E641675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Multi-User Case: Case I and Case II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Case I: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∣=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b="1" dirty="0"/>
              </a:p>
              <a:p>
                <a:pPr lvl="2"/>
                <a:r>
                  <a:rPr lang="en-US" dirty="0"/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so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    (70)</a:t>
                </a:r>
                <a:endParaRPr lang="ar-AE" b="0" dirty="0"/>
              </a:p>
              <a:p>
                <a:pPr lvl="2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must be singular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,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dirty="0"/>
                  <a:t>         (71)</a:t>
                </a:r>
                <a:endParaRPr lang="ar-AE" b="0" dirty="0"/>
              </a:p>
              <a:p>
                <a:pPr lvl="2"/>
                <a:r>
                  <a:rPr lang="en-US" dirty="0"/>
                  <a:t>and 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/>
                  <a:t>,</a:t>
                </a:r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⟹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Case II: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∣=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b="1" dirty="0"/>
              </a:p>
              <a:p>
                <a:pPr lvl="2"/>
                <a:r>
                  <a:rPr lang="en-US" dirty="0"/>
                  <a:t>Without loss of generality,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ar-A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. Then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b="0" dirty="0"/>
                  <a:t>                                           (72)</a:t>
                </a:r>
                <a:endParaRPr lang="ar-AE" b="0" dirty="0"/>
              </a:p>
              <a:p>
                <a:pPr lvl="2"/>
                <a:r>
                  <a:rPr lang="en-US" dirty="0"/>
                  <a:t>Appendix C shows that rank-one optimal solutions can still be constructed by redistributing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</m:sub>
                    </m:sSub>
                  </m:oMath>
                </a14:m>
                <a:r>
                  <a:rPr lang="ar-AE" dirty="0"/>
                  <a:t>-</a:t>
                </a:r>
                <a:r>
                  <a:rPr lang="en-US" dirty="0"/>
                  <a:t>component across users without changing feasibility or objective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9BDD2F-4FB9-9813-D80E-CA9E641675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17180-E4A2-83AA-57CF-0C1FE66BE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3695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E2641-9FB0-BCEF-DEE5-63F71DEC0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4C3B32-F2EE-FC82-707A-274A56A628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Multi-User Case: Case III and Lemma 3</a:t>
                </a:r>
              </a:p>
              <a:p>
                <a:pPr lvl="1"/>
                <a:r>
                  <a:rPr lang="en-US" dirty="0"/>
                  <a:t>Let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…….,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e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acc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𝐃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acc>
                  </m:oMath>
                </a14:m>
                <a:r>
                  <a:rPr lang="en-US" b="0" dirty="0"/>
                  <a:t>     (80)</a:t>
                </a:r>
                <a:endParaRPr lang="ar-AE" b="0" dirty="0"/>
              </a:p>
              <a:p>
                <a:r>
                  <a:rPr lang="en-US" dirty="0">
                    <a:solidFill>
                      <a:srgbClr val="7030A0"/>
                    </a:solidFill>
                  </a:rPr>
                  <a:t>Lemma 3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r>
                  <a:rPr lang="en-US" dirty="0"/>
                  <a:t> is full column rank, then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≻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r>
                  <a:rPr lang="en-US" dirty="0">
                    <a:solidFill>
                      <a:srgbClr val="7030A0"/>
                    </a:solidFill>
                  </a:rPr>
                  <a:t>Contradiction argument</a:t>
                </a:r>
              </a:p>
              <a:p>
                <a:pPr lvl="1"/>
                <a:r>
                  <a:rPr lang="en-US" dirty="0"/>
                  <a:t>Assume instead that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⊁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so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</m:acc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dirty="0"/>
                  <a:t> be the dominant eigenvector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</m:oMath>
                </a14:m>
                <a:r>
                  <a:rPr lang="ar-AE" dirty="0"/>
                  <a:t>. </a:t>
                </a:r>
                <a:r>
                  <a:rPr lang="en-US" dirty="0"/>
                  <a:t>Then Appendix C derives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b="0" dirty="0"/>
                  <a:t>                                                     (84)</a:t>
                </a:r>
                <a:endParaRPr lang="ar-AE" b="0" dirty="0"/>
              </a:p>
              <a:p>
                <a:pPr lvl="1"/>
                <a:r>
                  <a:rPr lang="en-US" dirty="0"/>
                  <a:t>and also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span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e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acc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/>
                  <a:t>     (85)</a:t>
                </a:r>
                <a:endParaRPr lang="ar-AE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4C3B32-F2EE-FC82-707A-274A56A628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9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25C01-3465-70B6-461D-B488B7EA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1" y="6356350"/>
            <a:ext cx="483066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79164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BFFC9-D910-6045-FB02-87CB8E12D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Point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39AC14-4CCB-18D2-46E9-CB14C3F9BB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Contradiction argument</a:t>
                </a:r>
              </a:p>
              <a:p>
                <a:pPr lvl="1"/>
                <a:r>
                  <a:rPr lang="en-US" dirty="0"/>
                  <a:t>Hence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span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e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acc>
                      </m:e>
                    </m:d>
                    <m:r>
                      <a:rPr lang="ar-AE" i="1">
                        <a:latin typeface="Cambria Math" panose="02040503050406030204" pitchFamily="18" charset="0"/>
                      </a:rPr>
                      <m:t> </m:t>
                    </m:r>
                    <m:m>
                      <m:mPr>
                        <m:plcHide m:val="on"/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/>
                        <m:e/>
                        <m:e/>
                      </m:mr>
                    </m:m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So, write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b="1" i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ar-AE" b="1" i="0">
                        <a:latin typeface="Cambria Math" panose="02040503050406030204" pitchFamily="18" charset="0"/>
                      </a:rPr>
                      <m:t>𝐃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       (87)</a:t>
                </a:r>
                <a:endParaRPr lang="ar-AE" dirty="0"/>
              </a:p>
              <a:p>
                <a:pPr lvl="1"/>
                <a:r>
                  <a:rPr lang="en-US" dirty="0"/>
                  <a:t>Which contradicts the full column rank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. Therefore,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≻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This implies that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≻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forcing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which is infeasible. Hence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and finally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⟹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That completes the proof of Theorem 2.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39AC14-4CCB-18D2-46E9-CB14C3F9BB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5F7F7-43BB-A8F3-3250-C5E1FA5C4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7134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63A1E-AE74-2DFE-A59C-64CD4697B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E54316-A16F-BA0D-FE07-F660B217D5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A. Problem Formulation</a:t>
                </a:r>
              </a:p>
              <a:p>
                <a:pPr lvl="1"/>
                <a:r>
                  <a:rPr lang="en-US" dirty="0"/>
                  <a:t>From Section II-C,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en-US" b="0" dirty="0"/>
                  <a:t>                                                                                   (16)</a:t>
                </a:r>
                <a:endParaRPr lang="ar-AE" b="0" dirty="0"/>
              </a:p>
              <a:p>
                <a:pPr lvl="1"/>
                <a:r>
                  <a:rPr lang="en-US" dirty="0"/>
                  <a:t>And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b="0" dirty="0"/>
                  <a:t>                                                                               (17)</a:t>
                </a:r>
                <a:endParaRPr lang="ar-AE" b="0" dirty="0"/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dirty="0"/>
                  <a:t> is constant, minimizing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</m:d>
                  </m:oMath>
                </a14:m>
                <a:r>
                  <a:rPr lang="en-US" dirty="0"/>
                  <a:t> is equivalent to minimizing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Thus, the extended-target beamforming problem becomes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𝐷𝐹</m:t>
                            </m:r>
                          </m:sub>
                        </m:sSub>
                      </m:lim>
                    </m:limLow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𝐕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𝐕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b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𝐕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𝐕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subject to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b="0" dirty="0"/>
                  <a:t>                                                                                         (34)</a:t>
                </a:r>
              </a:p>
              <a:p>
                <a:pPr lvl="3"/>
                <a:endParaRPr lang="ar-AE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E54316-A16F-BA0D-FE07-F660B217D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93526-C146-4A88-9B07-637812812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2227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E8A7A-208C-CB6C-4CB7-B3A0DF006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711287-B2D2-FC37-67E1-74855237C8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A. Problem Formulation: Lifting the Variables</a:t>
                </a:r>
              </a:p>
              <a:p>
                <a:pPr lvl="1"/>
                <a:r>
                  <a:rPr lang="en-US" dirty="0"/>
                  <a:t>Define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en-US" b="0" dirty="0"/>
                  <a:t>                                                                                               (35)</a:t>
                </a:r>
                <a:endParaRPr lang="ar-AE" b="0" dirty="0"/>
              </a:p>
              <a:p>
                <a:pPr lvl="1"/>
                <a:r>
                  <a:rPr lang="en-US" dirty="0"/>
                  <a:t>Then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Hence,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So, the objective in (34) becomes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grow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𝐖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endParaRPr lang="ar-AE" b="0" dirty="0"/>
              </a:p>
              <a:p>
                <a:pPr lvl="2"/>
                <a:r>
                  <a:rPr lang="en-US" dirty="0"/>
                  <a:t>This is the covariance-domain version of the beamforming design.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711287-B2D2-FC37-67E1-74855237C8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76810-A26D-2DEB-6467-1E0D2E9A0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19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DD22E-AAB0-2C1C-C451-420396618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2A0C0-0CF0-6B32-EC63-B5C07520DE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A. Problem Formulation: SINR and Power Constraints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Modified SINR from Section II-C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ar-AE" i="1"/>
                              <m:t>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</m:nary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+∥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𝐕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b="0" dirty="0"/>
                  <a:t>                                                                                   (18)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So, the SINR constraint becomes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Power constraint</a:t>
                </a:r>
              </a:p>
              <a:p>
                <a:pPr lvl="2"/>
                <a:r>
                  <a:rPr lang="en-US" dirty="0"/>
                  <a:t>Since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And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 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We get</a:t>
                </a:r>
              </a:p>
              <a:p>
                <a:pPr lvl="3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2A0C0-0CF0-6B32-EC63-B5C07520DE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3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03D15-5244-9FB4-03D0-A3C35B9F0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3695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CC51E-7E0E-B1E3-1F0A-583EC28F5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459021-406C-D316-A90A-2AEB1EDAAD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A. Problem Formulation: SDR Form</a:t>
                </a:r>
              </a:p>
              <a:p>
                <a:pPr lvl="1"/>
                <a:r>
                  <a:rPr lang="en-US" dirty="0"/>
                  <a:t>Substituting the lifted variables into (34), the problem becomes</a:t>
                </a:r>
              </a:p>
              <a:p>
                <a:pPr lvl="1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grow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𝐖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</m:e>
                        </m:nary>
                      </m:fNam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                                                                                                                       (36)</a:t>
                </a:r>
                <a:endParaRPr lang="ar-AE" b="0" dirty="0"/>
              </a:p>
              <a:p>
                <a:pPr lvl="1"/>
                <a:r>
                  <a:rPr lang="en-US" dirty="0"/>
                  <a:t>Why (36) is convex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≻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 gives a valid inverse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is convex for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≻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All constraints are linear in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Therefore, (36) is a convex optimization problem.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459021-406C-D316-A90A-2AEB1EDAAD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E35E1-0EDE-3BD2-E7CE-9E9F1A3E3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2745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13FE3-A253-422E-3582-1FD89FBA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C93E49-6D14-6588-581C-96B91A57BA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Problem Reformulation</a:t>
                </a:r>
              </a:p>
              <a:p>
                <a:pPr lvl="1"/>
                <a:r>
                  <a:rPr lang="en-US" dirty="0"/>
                  <a:t>For the single-user case, let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Then problem (36) can be recast as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r>
                      <a:rPr lang="ar-AE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)≥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                                                                                                                  (37)</a:t>
                </a:r>
                <a:endParaRPr lang="ar-AE" b="0" dirty="0"/>
              </a:p>
              <a:p>
                <a:pPr lvl="1"/>
                <a:r>
                  <a:rPr lang="en-US" dirty="0"/>
                  <a:t>In this case,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 smtClean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C93E49-6D14-6588-581C-96B91A57BA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B1881-6097-38B8-4DEE-F1A9BAD4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4389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7C8AD-1DD5-A94A-3EEF-8E6FE50E9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6F04F-A47F-1E64-DFDE-C4F10FC8C1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Lemma 2</a:t>
                </a:r>
              </a:p>
              <a:p>
                <a:pPr lvl="1"/>
                <a:r>
                  <a:rPr lang="en-US" dirty="0">
                    <a:solidFill>
                      <a:srgbClr val="0000FF"/>
                    </a:solidFill>
                  </a:rPr>
                  <a:t>Lemma 2</a:t>
                </a:r>
              </a:p>
              <a:p>
                <a:pPr lvl="1"/>
                <a:r>
                  <a:rPr lang="en-US" dirty="0"/>
                  <a:t>Let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den>
                    </m:f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an eigenvector of the 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dirty="0"/>
                  <a:t> of problem (37).</a:t>
                </a:r>
              </a:p>
              <a:p>
                <a:pPr lvl="1"/>
                <a:r>
                  <a:rPr lang="en-US" dirty="0"/>
                  <a:t>The optimal transmit covariance has one eigen-direction aligned with the user channel.</a:t>
                </a:r>
              </a:p>
              <a:p>
                <a:pPr lvl="1"/>
                <a:r>
                  <a:rPr lang="en-US" dirty="0"/>
                  <a:t>Hence, the communication beamformer naturally has </a:t>
                </a:r>
                <a:r>
                  <a:rPr lang="en-US" dirty="0">
                    <a:solidFill>
                      <a:srgbClr val="7030A0"/>
                    </a:solidFill>
                  </a:rPr>
                  <a:t>MRT structure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6F04F-A47F-1E64-DFDE-C4F10FC8C1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F1699-8C17-0B62-0C60-A254FBD45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4710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14DB4-1306-9E58-D148-29C821E02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7E9E01-86EC-1C46-D3E3-9DCCF40387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Proof of Lemma 2</a:t>
                </a:r>
              </a:p>
              <a:p>
                <a:pPr lvl="1"/>
                <a:r>
                  <a:rPr lang="en-US" dirty="0"/>
                  <a:t>Given an 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dirty="0"/>
                  <a:t> construct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ar-AE" i="1"/>
                      <m:t> 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en-US" b="0" dirty="0"/>
                  <a:t>                                           (38)</a:t>
                </a:r>
                <a:endParaRPr lang="ar-AE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Why this choice?</a:t>
                </a:r>
              </a:p>
              <a:p>
                <a:pPr lvl="2"/>
                <a:r>
                  <a:rPr lang="en-US" dirty="0"/>
                  <a:t>Since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We have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 smtClean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So, this maximizes the useful signal term.</a:t>
                </a:r>
              </a:p>
              <a:p>
                <a:pPr lvl="2"/>
                <a:r>
                  <a:rPr lang="en-US" dirty="0"/>
                  <a:t>Also,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So, the interference term becomes zero.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Therefore</a:t>
                </a:r>
              </a:p>
              <a:p>
                <a:pPr lvl="2"/>
                <a:r>
                  <a:rPr lang="en-US" dirty="0"/>
                  <a:t>objective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 unchanged </a:t>
                </a:r>
              </a:p>
              <a:p>
                <a:pPr lvl="2"/>
                <a:r>
                  <a:rPr lang="en-US" dirty="0"/>
                  <a:t>power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unchanged </a:t>
                </a:r>
              </a:p>
              <a:p>
                <a:pPr lvl="2"/>
                <a:r>
                  <a:rPr lang="en-US" dirty="0"/>
                  <a:t>SINR improved or maximized </a:t>
                </a:r>
              </a:p>
              <a:p>
                <a:pPr lvl="2"/>
                <a:r>
                  <a:rPr lang="en-US" dirty="0"/>
                  <a:t>Thus (38) is optimal.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7E9E01-86EC-1C46-D3E3-9DCCF40387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26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3DD36-0C58-94F2-4620-F82401B2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853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A6575-DB9F-A1B0-F874-42C365DD3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933F3-A68C-7C80-E024-157BAB9976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Proof of Lemma 2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Orthogonality argument</a:t>
                </a:r>
              </a:p>
              <a:p>
                <a:pPr lvl="2"/>
                <a:r>
                  <a:rPr lang="en-US" dirty="0"/>
                  <a:t>Since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fully 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en-US" dirty="0"/>
                  <a:t>we get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Let the eigenvalue decomposition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be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𝚲</m:t>
                        </m:r>
                      </m:e>
                    </m:acc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dirty="0" smtClean="0">
                                <a:latin typeface="Cambria Math" panose="02040503050406030204" pitchFamily="18" charset="0"/>
                              </a:rPr>
                              <m:t>𝐔</m:t>
                            </m:r>
                          </m:e>
                        </m:acc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</m:oMath>
                </a14:m>
                <a:r>
                  <a:rPr lang="en-US" b="0" dirty="0"/>
                  <a:t>                                                                                          (39)</a:t>
                </a:r>
                <a:endParaRPr lang="ar-AE" b="0" dirty="0"/>
              </a:p>
              <a:p>
                <a:pPr lvl="3"/>
                <a:r>
                  <a:rPr lang="en-US" dirty="0"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𝚲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≻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positive eigenvalues.</a:t>
                </a:r>
              </a:p>
              <a:p>
                <a:pPr lvl="2"/>
                <a:r>
                  <a:rPr lang="en-US" dirty="0"/>
                  <a:t>Then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𝚲</m:t>
                        </m:r>
                      </m:e>
                    </m:acc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dirty="0">
                                <a:latin typeface="Cambria Math" panose="02040503050406030204" pitchFamily="18" charset="0"/>
                              </a:rPr>
                              <m:t>𝐔</m:t>
                            </m:r>
                          </m:e>
                        </m:acc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Since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𝚲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≻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,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𝐔</m:t>
                            </m:r>
                          </m:e>
                        </m:acc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     (40)</a:t>
                </a:r>
                <a:endParaRPr lang="ar-AE" b="0" dirty="0"/>
              </a:p>
              <a:p>
                <a:pPr lvl="2"/>
                <a:r>
                  <a:rPr lang="en-US" dirty="0"/>
                  <a:t>Thus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orthogonal to the eigenspace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933F3-A68C-7C80-E024-157BAB9976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53877-A587-9ED8-EA3E-4A871F6C2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43692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49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5421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AD2EF-C270-111D-7E6D-0BA71D976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395D6C-1080-EC8C-43D9-1EB3050505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Proof of Lemma 2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Orthogonality argument</a:t>
                </a:r>
              </a:p>
              <a:p>
                <a:pPr lvl="2"/>
                <a:r>
                  <a:rPr lang="en-US" dirty="0"/>
                  <a:t>Now define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𝚲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diag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,…….,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ar-AE" dirty="0"/>
              </a:p>
              <a:p>
                <a:pPr lvl="3"/>
                <a14:m>
                  <m:oMath xmlns:m="http://schemas.openxmlformats.org/officeDocument/2006/math">
                    <m:r>
                      <a:rPr lang="ar-AE" b="1" i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l-GR" b="1" i="1">
                        <a:latin typeface="Cambria Math" panose="02040503050406030204" pitchFamily="18" charset="0"/>
                      </a:rPr>
                      <m:t>𝚲</m:t>
                    </m:r>
                    <m:r>
                      <a:rPr lang="el-GR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Hence,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𝚲</m:t>
                        </m:r>
                      </m:e>
                    </m:acc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dirty="0">
                                <a:latin typeface="Cambria Math" panose="02040503050406030204" pitchFamily="18" charset="0"/>
                              </a:rPr>
                              <m:t>𝐔</m:t>
                            </m:r>
                          </m:e>
                        </m:acc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 i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l-GR" b="1" i="1">
                        <a:latin typeface="Cambria Math" panose="02040503050406030204" pitchFamily="18" charset="0"/>
                      </a:rPr>
                      <m:t>𝚲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</m:oMath>
                </a14:m>
                <a:endParaRPr lang="ar-AE" dirty="0"/>
              </a:p>
              <a:p>
                <a:pPr lvl="3"/>
                <a:r>
                  <a:rPr lang="en-US" dirty="0"/>
                  <a:t>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an eigenvector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395D6C-1080-EC8C-43D9-1EB3050505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F6176-77DB-879D-F410-CC175D0B1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1904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A87A1-A2E1-0781-FD6A-8A66ACB89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544589-AB22-DFD5-0910-6D25E7F10A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Theorem 3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Theorem 3</a:t>
                </a:r>
              </a:p>
              <a:p>
                <a:pPr lvl="2"/>
                <a:r>
                  <a:rPr lang="en-US" dirty="0"/>
                  <a:t>The optimal solution of (37) is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ar-AE" i="1"/>
                      <m:t> 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b="0" dirty="0"/>
                  <a:t>          (43)</a:t>
                </a:r>
                <a:endParaRPr lang="ar-AE" b="0" dirty="0"/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nor/>
                      </m:rPr>
                      <a:rPr lang="ar-AE" i="1"/>
                      <m:t> 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en-US" b="0" dirty="0"/>
                  <a:t>  (44)</a:t>
                </a:r>
                <a:endParaRPr lang="ar-AE" b="0" dirty="0"/>
              </a:p>
              <a:p>
                <a:pPr lvl="2"/>
                <a:r>
                  <a:rPr lang="en-US" dirty="0"/>
                  <a:t>If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b="0" dirty="0"/>
                  <a:t>   (45)</a:t>
                </a:r>
                <a:endParaRPr lang="ar-AE" b="0" dirty="0"/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Key point</a:t>
                </a:r>
              </a:p>
              <a:p>
                <a:pPr lvl="3"/>
                <a:r>
                  <a:rPr lang="en-US" dirty="0"/>
                  <a:t>These closed-form solutions satisfy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pPr lvl="3"/>
                <a:r>
                  <a:rPr lang="en-US" dirty="0"/>
                  <a:t>So, they are also optimal for the original problem (34).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544589-AB22-DFD5-0910-6D25E7F10A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6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F2C8E-5A65-45B9-920A-6A9E939F8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3959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64C24-8530-BA2C-8F66-6E157ABB8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45C654-71F9-D963-C352-4F0F00FE02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0"/>
                <a:ext cx="10515600" cy="5208309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Eigenvalue Reformulation</a:t>
                </a:r>
              </a:p>
              <a:p>
                <a:pPr lvl="1"/>
                <a:r>
                  <a:rPr lang="en-US" dirty="0"/>
                  <a:t>Using Lemma 2 and (42), write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/∥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Then problem (37) becomes</a:t>
                </a:r>
              </a:p>
              <a:p>
                <a:pPr lvl="1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𝑖𝑖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p>
                        </m:sSubSup>
                      </m:lim>
                    </m:limLow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nary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                                                 (89)</a:t>
                </a:r>
                <a:endParaRPr lang="ar-AE" b="0" dirty="0"/>
              </a:p>
              <a:p>
                <a:pPr lvl="1"/>
                <a:r>
                  <a:rPr lang="en-US" dirty="0"/>
                  <a:t>Why this is true</a:t>
                </a:r>
              </a:p>
              <a:p>
                <a:pPr lvl="2"/>
                <a:r>
                  <a:rPr lang="en-US" dirty="0"/>
                  <a:t>Because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nary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Also,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orthogonal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en-US" dirty="0"/>
                  <a:t> so the interference term vanishes.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45C654-71F9-D963-C352-4F0F00FE02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0"/>
                <a:ext cx="10515600" cy="5208309"/>
              </a:xfrm>
              <a:blipFill>
                <a:blip r:embed="rId2"/>
                <a:stretch>
                  <a:fillRect l="-522" t="-1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2F4A9-42A3-3DED-7716-4B7C5CFB3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1" y="6356350"/>
            <a:ext cx="705374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52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85483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5D0E5-A87B-DADF-8634-DACD636A5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A3930D-DC16-53E4-26E7-17D16C1C2D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KKT Conditions</a:t>
                </a:r>
              </a:p>
              <a:p>
                <a:pPr lvl="1"/>
                <a:r>
                  <a:rPr lang="en-US" dirty="0"/>
                  <a:t>Form the </a:t>
                </a:r>
                <a:r>
                  <a:rPr lang="en-US" dirty="0" err="1"/>
                  <a:t>Lagrangian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𝑖𝑖</m:t>
                                </m:r>
                              </m:sub>
                            </m:sSub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</m:oMath>
                </a14:m>
                <a:r>
                  <a:rPr lang="en-US" b="0" dirty="0"/>
                  <a:t>           (90)</a:t>
                </a:r>
                <a:endParaRPr lang="ar-AE" b="0" dirty="0"/>
              </a:p>
              <a:p>
                <a:pPr lvl="2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are dual variables.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KKT conditions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                                                                (91a)</a:t>
                </a:r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b="0" dirty="0"/>
                  <a:t>                                                   (91b)</a:t>
                </a:r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                                                                   (91c)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beg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grow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p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𝑖𝑖</m:t>
                                </m:r>
                              </m:sub>
                            </m:sSub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                                                                     (91d)</a:t>
                </a:r>
                <a:endParaRPr lang="ar-AE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b="0" dirty="0"/>
                  <a:t>                                                                          (91e)</a:t>
                </a:r>
                <a:endParaRPr lang="ar-AE" b="0" dirty="0"/>
              </a:p>
              <a:p>
                <a:pPr lvl="2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ar-AE" dirty="0"/>
                  <a:t>, </a:t>
                </a:r>
                <a:r>
                  <a:rPr lang="en-US" dirty="0"/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Thus,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b="0" dirty="0"/>
                  <a:t>                                                                                      (92a)</a:t>
                </a:r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b="0" dirty="0"/>
                  <a:t>                                                                        (92b)</a:t>
                </a:r>
                <a:endParaRPr lang="ar-AE" b="0" dirty="0"/>
              </a:p>
              <a:p>
                <a:pPr lvl="2"/>
                <a:r>
                  <a:rPr lang="en-US" dirty="0"/>
                  <a:t>From (92b),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hence the power budget is active:</a:t>
                </a:r>
              </a:p>
              <a:p>
                <a:pPr lvl="3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A3930D-DC16-53E4-26E7-17D16C1C2D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31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F369E-6927-2960-C283-CFC26E6E9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8542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494D4-31B4-4249-3329-3507B0AA9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AC94EE-1523-8993-71BD-177AC6F0F4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Closed-Form Cases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Case 1: SINR constraint inactive</a:t>
                </a:r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Then from (92a) and (92b),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So, all eigenvalues are equal: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     (93)</a:t>
                </a:r>
                <a:endParaRPr lang="ar-AE" b="0" dirty="0"/>
              </a:p>
              <a:p>
                <a:pPr lvl="2"/>
                <a:r>
                  <a:rPr lang="en-US" dirty="0"/>
                  <a:t>Hence,</a:t>
                </a:r>
              </a:p>
              <a:p>
                <a:pPr lvl="3"/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b="0" dirty="0"/>
                  <a:t>                                          (94)</a:t>
                </a:r>
                <a:endParaRPr lang="ar-AE" b="0" dirty="0"/>
              </a:p>
              <a:p>
                <a:pPr lvl="2"/>
                <a:r>
                  <a:rPr lang="en-US" dirty="0"/>
                  <a:t>This requires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ar-AE" dirty="0"/>
              </a:p>
              <a:p>
                <a:pPr lvl="3"/>
                <a:r>
                  <a:rPr lang="en-US" dirty="0"/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b="0" dirty="0"/>
                  <a:t>                                                            (95)</a:t>
                </a:r>
                <a:br>
                  <a:rPr lang="ar-AE" dirty="0"/>
                </a:br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AC94EE-1523-8993-71BD-177AC6F0F4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A3F0D-4968-4F1E-341A-268BC7438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5025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3C270-09FF-3C9C-E3F9-6850292B8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452288-BE0B-91AC-D24F-34E0A10930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B. Single-User Case: Closed-Form Cases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Case 2: SINR constraint active</a:t>
                </a:r>
              </a:p>
              <a:p>
                <a:pPr lvl="2"/>
                <a:r>
                  <a:rPr lang="en-US" dirty="0"/>
                  <a:t>If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then the SINR constraint is tight: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and the remaining power is</a:t>
                </a:r>
              </a:p>
              <a:p>
                <a:pPr lvl="3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Since from (92b)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</m:oMath>
                </a14:m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are equal,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 (96)</a:t>
                </a:r>
                <a:endParaRPr lang="ar-AE" dirty="0"/>
              </a:p>
              <a:p>
                <a:pPr lvl="2"/>
                <a:r>
                  <a:rPr lang="en-US" dirty="0"/>
                  <a:t>Therefore,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ar-AE" i="1"/>
                      <m:t> 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en-US" dirty="0"/>
                  <a:t>                                              (97)</a:t>
                </a:r>
                <a:endParaRPr lang="ar-AE" dirty="0"/>
              </a:p>
              <a:p>
                <a:pPr lvl="3"/>
                <a:r>
                  <a:rPr lang="en-US" dirty="0">
                    <a:solidFill>
                      <a:srgbClr val="0000FF"/>
                    </a:solidFill>
                  </a:rPr>
                  <a:t>which completes the proof.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452288-BE0B-91AC-D24F-34E0A10930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5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37419-8657-BDB6-1086-4000F8C65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8545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7CA1B-C2EC-3082-2317-C85EEB25B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7302F3-3ECF-D737-BA23-A88B0338D6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Rank-One Optimal Solution of (36) in the Multi-User Case</a:t>
                </a:r>
              </a:p>
              <a:p>
                <a:pPr lvl="1"/>
                <a:r>
                  <a:rPr lang="en-US" dirty="0"/>
                  <a:t>Although (36) is convex and can be solved numerically</a:t>
                </a:r>
              </a:p>
              <a:p>
                <a:pPr lvl="1"/>
                <a:r>
                  <a:rPr lang="en-US" dirty="0"/>
                  <a:t>Its solution is not necessarily rank one.</a:t>
                </a:r>
              </a:p>
              <a:p>
                <a:pPr lvl="1"/>
                <a:r>
                  <a:rPr lang="en-US" dirty="0"/>
                  <a:t>The desired communication covariance matrices should satisfy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So ideally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However, solving (36) may yield higher-rank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Problem</a:t>
                </a:r>
              </a:p>
              <a:p>
                <a:pPr lvl="2"/>
                <a:r>
                  <a:rPr lang="en-US" dirty="0"/>
                  <a:t>Eigenvalue decomposition gives only approximation </a:t>
                </a:r>
              </a:p>
              <a:p>
                <a:pPr lvl="2"/>
                <a:r>
                  <a:rPr lang="en-US" dirty="0"/>
                  <a:t>Gaussian randomization is expensive </a:t>
                </a:r>
              </a:p>
              <a:p>
                <a:pPr lvl="2"/>
                <a:r>
                  <a:rPr lang="en-US" dirty="0"/>
                  <a:t>Need an </a:t>
                </a:r>
                <a:r>
                  <a:rPr lang="en-US" dirty="0">
                    <a:solidFill>
                      <a:srgbClr val="0070C0"/>
                    </a:solidFill>
                  </a:rPr>
                  <a:t>exact rank-one construction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7302F3-3ECF-D737-BA23-A88B0338D6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C42CB-918A-EB20-6423-534939C5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3179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15A92-5040-3162-2B13-0D436C925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7AE3AF-D57D-947E-3F79-22EFD9C391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Rank-One Optimal Solution of (36) in the Multi-User Case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Equivalent form of (36)</a:t>
                </a:r>
              </a:p>
              <a:p>
                <a:pPr lvl="1"/>
                <a:r>
                  <a:rPr lang="en-US" dirty="0"/>
                  <a:t>Problem (36) can be written as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bSup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lim>
                    </m:limLow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subject to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⪰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          (46)</a:t>
                </a:r>
                <a:endParaRPr lang="ar-AE" dirty="0"/>
              </a:p>
              <a:p>
                <a:pPr lvl="1"/>
                <a:r>
                  <a:rPr lang="en-US" dirty="0"/>
                  <a:t>This is the multi-user extended-target counterpart of (37).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7AE3AF-D57D-947E-3F79-22EFD9C391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0EA32-76A9-F8D3-74CF-91E2B99EE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6168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F13C2-591D-9ADE-BCA0-23943FE28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6F0BE7-3668-CCAF-3C01-20D0263B14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Rank-One Optimal Solution of (36): Theorem 4</a:t>
                </a:r>
              </a:p>
              <a:p>
                <a:pPr lvl="1"/>
                <a:r>
                  <a:rPr lang="en-US" dirty="0"/>
                  <a:t>Let the optimal solution of (46) be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then the relaxed solution is already optimal for the original problem.</a:t>
                </a:r>
              </a:p>
              <a:p>
                <a:pPr lvl="1"/>
                <a:r>
                  <a:rPr lang="en-US" dirty="0"/>
                  <a:t>Otherwise, define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i="1" dirty="0"/>
                  <a:t> </a:t>
                </a:r>
                <a:endParaRPr lang="ar-AE" i="1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dirty="0"/>
                  <a:t>        (47)</a:t>
                </a:r>
                <a:endParaRPr lang="ar-AE" b="0" dirty="0"/>
              </a:p>
              <a:p>
                <a:pPr lvl="1"/>
                <a:r>
                  <a:rPr lang="en-US" dirty="0"/>
                  <a:t>Then Theorem 4 states: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also optimal.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6F0BE7-3668-CCAF-3C01-20D0263B1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52C84-2130-0ABC-A0A5-8D4BF74CA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4743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EB168-6C91-2F80-C9FC-661302F62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633F2E-C58B-3896-41AC-F3C2438766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Rank-One Optimal Solution of (36): 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is Rank One</a:t>
                </a:r>
              </a:p>
              <a:p>
                <a:pPr lvl="1"/>
                <a:r>
                  <a:rPr lang="en-US" dirty="0"/>
                  <a:t>Recall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Substitute into (47):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Now define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en-US" dirty="0"/>
                  <a:t> is an outer product of one vector with itself,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provided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which is guaranteed by feasibility.</a:t>
                </a:r>
                <a:endParaRPr lang="en-US" b="1" dirty="0"/>
              </a:p>
              <a:p>
                <a:pPr lvl="1"/>
                <a:r>
                  <a:rPr lang="en-US" dirty="0"/>
                  <a:t>The construction in (47) compresses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into a rank-one matrix along the user-relevant      direction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633F2E-C58B-3896-41AC-F3C2438766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r="-928" b="-3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F4DE9-4105-9FAF-FCA7-0AE4DFB35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4871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B9D2A-CB89-834A-72F0-C0BFBBC71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7C50F9-F073-9771-7EEA-1C42BD9310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Rank-One Optimal Solution of (36): Useful Signal Preservation</a:t>
                </a:r>
              </a:p>
              <a:p>
                <a:pPr lvl="1"/>
                <a:r>
                  <a:rPr lang="en-US" dirty="0"/>
                  <a:t>We now show that the useful signal power of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unchanged.</a:t>
                </a:r>
              </a:p>
              <a:p>
                <a:pPr lvl="1"/>
                <a:r>
                  <a:rPr lang="en-US" dirty="0"/>
                  <a:t>Original useful signal term: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New useful signal term: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𝐖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𝐖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tr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𝐐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𝐖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r>
                  <a:rPr lang="ar-AE" dirty="0"/>
                  <a:t>,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</m:e>
                        </m:d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is Hermitian,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Conclusion</a:t>
                </a:r>
              </a:p>
              <a:p>
                <a:pPr lvl="2"/>
                <a:r>
                  <a:rPr lang="en-US" dirty="0"/>
                  <a:t>The useful signal power is preserved exactly.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7C50F9-F073-9771-7EEA-1C42BD9310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C9F50-962B-0741-8E34-1AD9116F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47467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39202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B53FE-869C-5C83-AD6D-E23964D34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4C5585-7DA2-9258-2828-7BBA9E9902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Rank-One Optimal Solution of (36): Objective and Power Preservation</a:t>
                </a:r>
              </a:p>
              <a:p>
                <a:pPr lvl="1"/>
                <a:r>
                  <a:rPr lang="en-US" dirty="0"/>
                  <a:t>The construction uses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Hence the objective remains unchanged: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So, the CRB objective is identical.</a:t>
                </a:r>
              </a:p>
              <a:p>
                <a:pPr lvl="2"/>
                <a:r>
                  <a:rPr lang="en-US" dirty="0"/>
                  <a:t>Also, the total power remains unchanged: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Thus:</a:t>
                </a:r>
              </a:p>
              <a:p>
                <a:pPr lvl="2"/>
                <a:r>
                  <a:rPr lang="en-US" dirty="0"/>
                  <a:t>same objective value </a:t>
                </a:r>
              </a:p>
              <a:p>
                <a:pPr lvl="2"/>
                <a:r>
                  <a:rPr lang="en-US" dirty="0"/>
                  <a:t>same total transmit power </a:t>
                </a:r>
              </a:p>
              <a:p>
                <a:pPr lvl="2"/>
                <a:r>
                  <a:rPr lang="en-US" dirty="0"/>
                  <a:t>same total covariance 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Key insight</a:t>
                </a:r>
              </a:p>
              <a:p>
                <a:pPr lvl="3"/>
                <a:r>
                  <a:rPr lang="en-US" dirty="0"/>
                  <a:t>The rank-one extraction modifies only the decomposition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ar-AE" dirty="0"/>
                  <a:t>, </a:t>
                </a:r>
                <a:r>
                  <a:rPr lang="en-US" dirty="0"/>
                  <a:t> 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dirty="0"/>
                  <a:t> itself.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4C5585-7DA2-9258-2828-7BBA9E9902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DE714-145F-61CF-43BC-806C919C4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8347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8D4EE-8EAA-CD08-E3C2-91737DC7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83ACED-78DE-7A78-DA29-EC39DCB64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Rank-One Optimal Solution of (36): SINR Preservation</a:t>
                </a:r>
              </a:p>
              <a:p>
                <a:pPr lvl="1"/>
                <a:r>
                  <a:rPr lang="en-US" dirty="0"/>
                  <a:t>For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the SINR constraint in (46) is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Now after replacement: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dirty="0"/>
                  <a:t> is unchanged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unchanged </a:t>
                </a:r>
              </a:p>
              <a:p>
                <a:pPr lvl="1"/>
                <a:r>
                  <a:rPr lang="en-US" dirty="0"/>
                  <a:t>Therefore,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𝐑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𝐖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Hence the interference term is also unchanged.</a:t>
                </a:r>
              </a:p>
              <a:p>
                <a:pPr lvl="1"/>
                <a:r>
                  <a:rPr lang="en-US" dirty="0"/>
                  <a:t>So, for every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𝐑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 b="1" i="0">
                                            <a:latin typeface="Cambria Math" panose="02040503050406030204" pitchFamily="18" charset="0"/>
                                          </a:rPr>
                                          <m:t>𝐖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Therefore, the SINR constraint remains satisfied.</a:t>
                </a:r>
              </a:p>
              <a:p>
                <a:pPr lvl="1"/>
                <a:r>
                  <a:rPr lang="en-US" dirty="0"/>
                  <a:t>Conclusion</a:t>
                </a:r>
              </a:p>
              <a:p>
                <a:pPr lvl="2"/>
                <a:r>
                  <a:rPr lang="en-US" dirty="0"/>
                  <a:t>The new rank-one solution is feasible and optimal.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83ACED-78DE-7A78-DA29-EC39DCB64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450AE-7102-8DD2-2745-383EC60C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6860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86554-BE0B-07C6-D9EB-5D3029EBA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B75547-1F77-F8A5-DEAC-95B4710B39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Rank-One Optimal Solution of (36): Recovering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ar-AE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Since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and from (47)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we can choose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⁡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𝐰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rad>
                      </m:den>
                    </m:f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Since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this becomes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ar-AE" i="1"/>
                      <m:t> 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dirty="0"/>
                  <a:t>          (48)</a:t>
                </a:r>
                <a:endParaRPr lang="ar-AE" b="0" dirty="0"/>
              </a:p>
              <a:p>
                <a:pPr lvl="1"/>
                <a:r>
                  <a:rPr lang="en-US" b="1" dirty="0"/>
                  <a:t>Verification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So (48) is exactly the beamforming vector corresponding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B75547-1F77-F8A5-DEAC-95B4710B39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9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427CE-2477-3FEE-2815-069391653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936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A4195-B8D6-33EF-971D-16BF73198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0AD7B7-EBEC-809F-B0A5-6A44E4A04D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Rank-One Optimal Solution of (36): Recovering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After extracting all rank-one communication covariances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endParaRPr lang="en-US" dirty="0"/>
              </a:p>
              <a:p>
                <a:pPr lvl="1"/>
                <a:r>
                  <a:rPr lang="en-US" dirty="0"/>
                  <a:t>The remaining covariance is assigned to the auxiliary radar beamformer: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b="0" dirty="0"/>
                  <a:t>            (49)</a:t>
                </a:r>
                <a:endParaRPr lang="ar-AE" b="0" dirty="0"/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dirty="0"/>
                  <a:t> and the communication part has been explicitly separated, </a:t>
                </a:r>
              </a:p>
              <a:p>
                <a:pPr lvl="1"/>
                <a:r>
                  <a:rPr lang="en-US" dirty="0"/>
                  <a:t>The residual matrix is PSD.</a:t>
                </a:r>
              </a:p>
              <a:p>
                <a:pPr lvl="1"/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 can be obtained as any matrix square root of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ar-AE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Possible constructions</a:t>
                </a:r>
              </a:p>
              <a:p>
                <a:pPr lvl="2"/>
                <a:r>
                  <a:rPr lang="en-US" dirty="0"/>
                  <a:t>Cholesky decomposition </a:t>
                </a:r>
              </a:p>
              <a:p>
                <a:pPr lvl="2"/>
                <a:r>
                  <a:rPr lang="en-US" dirty="0"/>
                  <a:t>Eigenvalue decomposition </a:t>
                </a:r>
              </a:p>
              <a:p>
                <a:pPr lvl="1"/>
                <a:r>
                  <a:rPr lang="en-US" dirty="0"/>
                  <a:t>Meaning</a:t>
                </a:r>
              </a:p>
              <a:p>
                <a:pPr lvl="2"/>
                <a:r>
                  <a:rPr lang="en-US" dirty="0"/>
                  <a:t>All extra ranks that were originally present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are absorbed into the auxiliary radar covariance.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0AD7B7-EBEC-809F-B0A5-6A44E4A04D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5746D-7D26-D83F-9F59-C4720B856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50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7066E-E002-B56B-5C89-B74630E3B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E451A6-4F95-EEB9-17DB-9A75B3E33D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Rank-One Optimal Solution of (36): Full Derivation Summary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i="1"/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 ⟹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endParaRPr lang="ar-AE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Then: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b="1" i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Hence feasibility and optimality are preserved.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E451A6-4F95-EEB9-17DB-9A75B3E33D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8D4FA-F54B-7E20-48E5-FD8B56FBF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1152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6DDF2-DCF4-8CD9-83F2-80ADB79D4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Beamforming Design for Extended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F7E1C1-77F5-E87D-74FD-8C1571DAFC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C. Rank-One Optimal Solution of (36): Final Construction</a:t>
                </a:r>
              </a:p>
              <a:p>
                <a:pPr lvl="1"/>
                <a:r>
                  <a:rPr lang="en-US" dirty="0"/>
                  <a:t>Communication beamformers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dirty="0"/>
                  <a:t>                    (48)</a:t>
                </a:r>
                <a:endParaRPr lang="ar-AE" b="0" dirty="0"/>
              </a:p>
              <a:p>
                <a:pPr lvl="1"/>
                <a:r>
                  <a:rPr lang="en-US" dirty="0"/>
                  <a:t>Auxiliary radar beamformer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1" i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b="0" dirty="0"/>
                  <a:t>                    (49)</a:t>
                </a:r>
                <a:endParaRPr lang="ar-AE" b="0" dirty="0"/>
              </a:p>
              <a:p>
                <a:pPr lvl="1"/>
                <a:r>
                  <a:rPr lang="en-US" dirty="0"/>
                  <a:t>Final structure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1" i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𝐷𝐹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ar-AE" b="0" dirty="0"/>
              </a:p>
              <a:p>
                <a:pPr lvl="1"/>
                <a:r>
                  <a:rPr lang="en-US" dirty="0"/>
                  <a:t>where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0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,…..,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This gives the optimal beamformer for the original problem (34).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F7E1C1-77F5-E87D-74FD-8C1571DAFC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E97EB-B335-C3AA-23C9-E7DF9E718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358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6246</Words>
  <Application>Microsoft Office PowerPoint</Application>
  <PresentationFormat>Widescreen</PresentationFormat>
  <Paragraphs>956</Paragraphs>
  <Slides>66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4" baseType="lpstr">
      <vt:lpstr>맑은 고딕</vt:lpstr>
      <vt:lpstr>Arial</vt:lpstr>
      <vt:lpstr>Arial Black</vt:lpstr>
      <vt:lpstr>Calibri</vt:lpstr>
      <vt:lpstr>Cambria Math</vt:lpstr>
      <vt:lpstr>Tahoma</vt:lpstr>
      <vt:lpstr>Wingdings</vt:lpstr>
      <vt:lpstr>Office 테마</vt:lpstr>
      <vt:lpstr>Cramér-Rao Bound Optimization for Joint Radar-Communication Beamforming </vt:lpstr>
      <vt:lpstr> Table of Contents</vt:lpstr>
      <vt:lpstr>Abstract Overview</vt:lpstr>
      <vt:lpstr>Introduction</vt:lpstr>
      <vt:lpstr>Introduction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Point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  <vt:lpstr>Joint Beamforming Design for Extended Target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Jihwan Moon</dc:creator>
  <cp:lastModifiedBy>Refat Khan</cp:lastModifiedBy>
  <cp:revision>10</cp:revision>
  <dcterms:created xsi:type="dcterms:W3CDTF">2018-05-20T06:28:16Z</dcterms:created>
  <dcterms:modified xsi:type="dcterms:W3CDTF">2026-04-23T12:14:59Z</dcterms:modified>
</cp:coreProperties>
</file>