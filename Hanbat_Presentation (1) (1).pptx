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1420" r:id="rId2"/>
    <p:sldId id="1535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65" r:id="rId33"/>
    <p:sldId id="1566" r:id="rId34"/>
    <p:sldId id="1567" r:id="rId35"/>
    <p:sldId id="1568" r:id="rId36"/>
    <p:sldId id="1569" r:id="rId37"/>
    <p:sldId id="1570" r:id="rId38"/>
    <p:sldId id="1571" r:id="rId39"/>
    <p:sldId id="1572" r:id="rId40"/>
    <p:sldId id="1573" r:id="rId41"/>
    <p:sldId id="1574" r:id="rId42"/>
    <p:sldId id="1575" r:id="rId43"/>
    <p:sldId id="1576" r:id="rId44"/>
    <p:sldId id="1577" r:id="rId45"/>
    <p:sldId id="1578" r:id="rId46"/>
    <p:sldId id="1579" r:id="rId47"/>
    <p:sldId id="1580" r:id="rId48"/>
    <p:sldId id="1581" r:id="rId49"/>
    <p:sldId id="1582" r:id="rId50"/>
    <p:sldId id="1583" r:id="rId51"/>
    <p:sldId id="1584" r:id="rId52"/>
    <p:sldId id="1585" r:id="rId53"/>
    <p:sldId id="1586" r:id="rId54"/>
    <p:sldId id="1587" r:id="rId55"/>
    <p:sldId id="1588" r:id="rId56"/>
    <p:sldId id="1589" r:id="rId57"/>
    <p:sldId id="1590" r:id="rId58"/>
    <p:sldId id="1591" r:id="rId59"/>
    <p:sldId id="1592" r:id="rId60"/>
    <p:sldId id="1593" r:id="rId61"/>
    <p:sldId id="1594" r:id="rId62"/>
    <p:sldId id="1595" r:id="rId63"/>
    <p:sldId id="1596" r:id="rId64"/>
    <p:sldId id="1597" r:id="rId65"/>
    <p:sldId id="1598" r:id="rId66"/>
    <p:sldId id="1599" r:id="rId6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D31EEF-D149-46F4-BD7B-48ADCAC25F5D}">
          <p14:sldIdLst>
            <p14:sldId id="1420"/>
            <p14:sldId id="1535"/>
            <p14:sldId id="1536"/>
            <p14:sldId id="1537"/>
            <p14:sldId id="1538"/>
            <p14:sldId id="1539"/>
            <p14:sldId id="1540"/>
            <p14:sldId id="1541"/>
            <p14:sldId id="1542"/>
            <p14:sldId id="1543"/>
            <p14:sldId id="1544"/>
            <p14:sldId id="1545"/>
            <p14:sldId id="1546"/>
            <p14:sldId id="1547"/>
            <p14:sldId id="1548"/>
            <p14:sldId id="1549"/>
            <p14:sldId id="1550"/>
            <p14:sldId id="1551"/>
            <p14:sldId id="1552"/>
            <p14:sldId id="1553"/>
            <p14:sldId id="1554"/>
            <p14:sldId id="1555"/>
            <p14:sldId id="1556"/>
            <p14:sldId id="1557"/>
            <p14:sldId id="1558"/>
            <p14:sldId id="1559"/>
            <p14:sldId id="1560"/>
            <p14:sldId id="1561"/>
            <p14:sldId id="1562"/>
            <p14:sldId id="1563"/>
            <p14:sldId id="1564"/>
            <p14:sldId id="1565"/>
            <p14:sldId id="1566"/>
            <p14:sldId id="1567"/>
            <p14:sldId id="1568"/>
            <p14:sldId id="1569"/>
            <p14:sldId id="1570"/>
            <p14:sldId id="1571"/>
            <p14:sldId id="1572"/>
            <p14:sldId id="1573"/>
            <p14:sldId id="1574"/>
            <p14:sldId id="1575"/>
            <p14:sldId id="1576"/>
            <p14:sldId id="1577"/>
            <p14:sldId id="1578"/>
            <p14:sldId id="1579"/>
            <p14:sldId id="1580"/>
            <p14:sldId id="1581"/>
            <p14:sldId id="1582"/>
            <p14:sldId id="1583"/>
            <p14:sldId id="1584"/>
            <p14:sldId id="1585"/>
            <p14:sldId id="1586"/>
            <p14:sldId id="1587"/>
            <p14:sldId id="1588"/>
            <p14:sldId id="1589"/>
            <p14:sldId id="1590"/>
            <p14:sldId id="1591"/>
            <p14:sldId id="1592"/>
            <p14:sldId id="1593"/>
            <p14:sldId id="1594"/>
            <p14:sldId id="1595"/>
            <p14:sldId id="1596"/>
            <p14:sldId id="1597"/>
            <p14:sldId id="1598"/>
            <p14:sldId id="15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06930-2FBF-4BDF-BB7A-ED0F3C0B85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3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598255800" TargetMode="External"/><Relationship Id="rId2" Type="http://schemas.openxmlformats.org/officeDocument/2006/relationships/hyperlink" Target="https://ieeexplore.ieee.org/author/37086080022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284203200" TargetMode="External"/><Relationship Id="rId5" Type="http://schemas.openxmlformats.org/officeDocument/2006/relationships/hyperlink" Target="https://ieeexplore.ieee.org/author/37299872300" TargetMode="External"/><Relationship Id="rId4" Type="http://schemas.openxmlformats.org/officeDocument/2006/relationships/hyperlink" Target="https://ieeexplore.ieee.org/author/3708548102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dirty="0"/>
              <a:t>Cramér-Rao Bound Optimization for Joint Radar-Communication Beamforming</a:t>
            </a:r>
            <a:br>
              <a:rPr lang="en-US" dirty="0"/>
            </a:b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u="sng" dirty="0">
                <a:hlinkClick r:id="rId2"/>
              </a:rPr>
              <a:t>Fan Liu</a:t>
            </a:r>
            <a:r>
              <a:rPr lang="en-US" dirty="0"/>
              <a:t>; </a:t>
            </a:r>
            <a:r>
              <a:rPr lang="en-US" u="sng" dirty="0">
                <a:hlinkClick r:id="rId3"/>
              </a:rPr>
              <a:t>Ya-Feng Liu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Ang Li</a:t>
            </a:r>
            <a:r>
              <a:rPr lang="en-US" dirty="0"/>
              <a:t>; </a:t>
            </a:r>
            <a:r>
              <a:rPr lang="en-US" u="sng" dirty="0">
                <a:hlinkClick r:id="rId5"/>
              </a:rPr>
              <a:t>Christos </a:t>
            </a:r>
            <a:r>
              <a:rPr lang="en-US" u="sng" dirty="0" err="1">
                <a:hlinkClick r:id="rId5"/>
              </a:rPr>
              <a:t>Masouros</a:t>
            </a:r>
            <a:r>
              <a:rPr lang="en-US" dirty="0"/>
              <a:t>; </a:t>
            </a:r>
            <a:r>
              <a:rPr lang="en-US" u="sng" dirty="0">
                <a:hlinkClick r:id="rId6"/>
              </a:rPr>
              <a:t>Yonina C. Eldar</a:t>
            </a: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06" y="1065439"/>
            <a:ext cx="10463894" cy="425048"/>
          </a:xfrm>
        </p:spPr>
        <p:txBody>
          <a:bodyPr/>
          <a:lstStyle/>
          <a:p>
            <a:br>
              <a:rPr lang="en-US" sz="15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9A21-3EFF-47FE-AF17-1A22D812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779219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altLang="ko-K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A9F3-5ACC-656E-BFC6-16F22151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4F78-9732-1990-5C96-78EB7D05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Objective</a:t>
            </a:r>
          </a:p>
          <a:p>
            <a:pPr lvl="1"/>
            <a:r>
              <a:rPr lang="en-US" dirty="0"/>
              <a:t>Design </a:t>
            </a:r>
            <a:r>
              <a:rPr lang="en-US" dirty="0">
                <a:solidFill>
                  <a:srgbClr val="7030A0"/>
                </a:solidFill>
              </a:rPr>
              <a:t>MIMO beamforming </a:t>
            </a:r>
            <a:r>
              <a:rPr lang="en-US" dirty="0"/>
              <a:t>for </a:t>
            </a:r>
            <a:r>
              <a:rPr lang="en-US" dirty="0">
                <a:solidFill>
                  <a:srgbClr val="7030A0"/>
                </a:solidFill>
              </a:rPr>
              <a:t>joint radar sensing </a:t>
            </a:r>
            <a:r>
              <a:rPr lang="en-US" dirty="0"/>
              <a:t>and </a:t>
            </a:r>
            <a:r>
              <a:rPr lang="en-US" dirty="0">
                <a:solidFill>
                  <a:srgbClr val="7030A0"/>
                </a:solidFill>
              </a:rPr>
              <a:t>multi-user communications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000FF"/>
                </a:solidFill>
              </a:rPr>
              <a:t>Performance Metric</a:t>
            </a:r>
          </a:p>
          <a:p>
            <a:pPr lvl="1"/>
            <a:r>
              <a:rPr lang="en-US" dirty="0"/>
              <a:t>Use the </a:t>
            </a:r>
            <a:r>
              <a:rPr lang="en-US" dirty="0">
                <a:solidFill>
                  <a:srgbClr val="7030A0"/>
                </a:solidFill>
              </a:rPr>
              <a:t>Cramér–Rao Bound (CRB) </a:t>
            </a:r>
            <a:r>
              <a:rPr lang="en-US" dirty="0"/>
              <a:t>to evaluate </a:t>
            </a:r>
            <a:r>
              <a:rPr lang="en-US" dirty="0">
                <a:solidFill>
                  <a:srgbClr val="7030A0"/>
                </a:solidFill>
              </a:rPr>
              <a:t>target estimation accuracy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Consider both: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Point target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Extended target </a:t>
            </a:r>
          </a:p>
          <a:p>
            <a:r>
              <a:rPr lang="en-US" dirty="0">
                <a:solidFill>
                  <a:srgbClr val="0000FF"/>
                </a:solidFill>
              </a:rPr>
              <a:t>Proposed Method</a:t>
            </a:r>
          </a:p>
          <a:p>
            <a:pPr lvl="1"/>
            <a:r>
              <a:rPr lang="en-US" dirty="0"/>
              <a:t>Minimize </a:t>
            </a:r>
            <a:r>
              <a:rPr lang="en-US" dirty="0">
                <a:solidFill>
                  <a:srgbClr val="002060"/>
                </a:solidFill>
              </a:rPr>
              <a:t>radar CRB </a:t>
            </a:r>
          </a:p>
          <a:p>
            <a:pPr lvl="1"/>
            <a:r>
              <a:rPr lang="en-US" dirty="0"/>
              <a:t>Subject to </a:t>
            </a:r>
            <a:r>
              <a:rPr lang="en-US" dirty="0">
                <a:solidFill>
                  <a:srgbClr val="002060"/>
                </a:solidFill>
              </a:rPr>
              <a:t>per-user SINR constraints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Single-user case: </a:t>
            </a:r>
            <a:r>
              <a:rPr lang="en-US" dirty="0"/>
              <a:t>closed-form optimal solution 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Multi-user case: </a:t>
            </a:r>
            <a:r>
              <a:rPr lang="en-US" dirty="0"/>
              <a:t>solve via </a:t>
            </a:r>
            <a:r>
              <a:rPr lang="en-US" b="1" dirty="0"/>
              <a:t>SDR / SDP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Main Result</a:t>
            </a:r>
          </a:p>
          <a:p>
            <a:pPr lvl="1"/>
            <a:r>
              <a:rPr lang="en-US" dirty="0"/>
              <a:t>Proposed methods can generally achieve </a:t>
            </a:r>
            <a:r>
              <a:rPr lang="en-US" dirty="0">
                <a:solidFill>
                  <a:srgbClr val="7030A0"/>
                </a:solidFill>
              </a:rPr>
              <a:t>global optimum </a:t>
            </a:r>
          </a:p>
          <a:p>
            <a:pPr lvl="1"/>
            <a:r>
              <a:rPr lang="en-US" dirty="0"/>
              <a:t>They provide </a:t>
            </a:r>
            <a:r>
              <a:rPr lang="en-US" dirty="0">
                <a:solidFill>
                  <a:srgbClr val="7030A0"/>
                </a:solidFill>
              </a:rPr>
              <a:t>significant target estimation gains </a:t>
            </a:r>
            <a:r>
              <a:rPr lang="en-US" dirty="0"/>
              <a:t>over benchmark methods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CF28-81CF-EC77-A35F-85CAAF7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38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2686-20B1-C450-F241-F0B59DFD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747E-3578-A2D2-68C0-2A32ECFE0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 and Core Idea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Background</a:t>
            </a:r>
          </a:p>
          <a:p>
            <a:pPr lvl="2"/>
            <a:r>
              <a:rPr lang="en-US" dirty="0"/>
              <a:t>Joint radar sensing and multi-user communication are both important in modern wireless             systems. </a:t>
            </a:r>
          </a:p>
          <a:p>
            <a:pPr lvl="2"/>
            <a:r>
              <a:rPr lang="en-US" dirty="0"/>
              <a:t>A common MIMO beamforming design is needed to support both functions simultaneously.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Problem</a:t>
            </a:r>
          </a:p>
          <a:p>
            <a:pPr lvl="2"/>
            <a:r>
              <a:rPr lang="en-US" dirty="0"/>
              <a:t>Design </a:t>
            </a:r>
            <a:r>
              <a:rPr lang="en-US" dirty="0">
                <a:solidFill>
                  <a:srgbClr val="002060"/>
                </a:solidFill>
              </a:rPr>
              <a:t>MIMO beamforming </a:t>
            </a:r>
            <a:r>
              <a:rPr lang="en-US" dirty="0"/>
              <a:t>for: </a:t>
            </a:r>
          </a:p>
          <a:p>
            <a:pPr marL="1657350" lvl="3" indent="-285750"/>
            <a:r>
              <a:rPr lang="en-US" dirty="0">
                <a:solidFill>
                  <a:srgbClr val="0070C0"/>
                </a:solidFill>
              </a:rPr>
              <a:t>radar sensing </a:t>
            </a:r>
          </a:p>
          <a:p>
            <a:pPr marL="1657350" lvl="3" indent="-285750"/>
            <a:r>
              <a:rPr lang="en-US" dirty="0">
                <a:solidFill>
                  <a:srgbClr val="0070C0"/>
                </a:solidFill>
              </a:rPr>
              <a:t>multi-user communications </a:t>
            </a:r>
          </a:p>
          <a:p>
            <a:pPr lvl="2"/>
            <a:r>
              <a:rPr lang="en-US" dirty="0"/>
              <a:t>The sensing performance is measured by the </a:t>
            </a:r>
            <a:r>
              <a:rPr lang="en-US" dirty="0">
                <a:solidFill>
                  <a:srgbClr val="002060"/>
                </a:solidFill>
              </a:rPr>
              <a:t>Cramér–Rao Bound (CRB). </a:t>
            </a:r>
          </a:p>
          <a:p>
            <a:pPr lvl="2"/>
            <a:r>
              <a:rPr lang="en-US" dirty="0"/>
              <a:t>The design must satisfy a required </a:t>
            </a:r>
            <a:r>
              <a:rPr lang="en-US" dirty="0">
                <a:solidFill>
                  <a:srgbClr val="002060"/>
                </a:solidFill>
              </a:rPr>
              <a:t>SINR</a:t>
            </a:r>
            <a:r>
              <a:rPr lang="en-US" dirty="0"/>
              <a:t> for each communication user.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Target Scenarios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Point target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Extended target </a:t>
            </a:r>
          </a:p>
          <a:p>
            <a:pPr lvl="1"/>
            <a:r>
              <a:rPr lang="en-US" dirty="0"/>
              <a:t>Minimize the radar CRB while guaranteeing communication QoS.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1B6C-16BB-67B8-3D0E-5274644D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72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1F82-2008-E9BD-8814-C127567F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14E6B-5433-5208-9F47-268B5C692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Method and Contributions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Method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Single-user case: </a:t>
            </a:r>
            <a:r>
              <a:rPr lang="en-US" dirty="0"/>
              <a:t>derive </a:t>
            </a:r>
            <a:r>
              <a:rPr lang="en-US" dirty="0">
                <a:solidFill>
                  <a:srgbClr val="0070C0"/>
                </a:solidFill>
              </a:rPr>
              <a:t>closed-form optimal beamforming solutions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Multi-user case: </a:t>
            </a:r>
            <a:r>
              <a:rPr lang="en-US" dirty="0"/>
              <a:t>reformulate the problem using </a:t>
            </a:r>
            <a:r>
              <a:rPr lang="en-US" dirty="0">
                <a:solidFill>
                  <a:srgbClr val="0070C0"/>
                </a:solidFill>
              </a:rPr>
              <a:t>semidefinite relaxation (SDR) </a:t>
            </a:r>
          </a:p>
          <a:p>
            <a:pPr lvl="2"/>
            <a:r>
              <a:rPr lang="en-US" dirty="0"/>
              <a:t>Solve the relaxed problems as </a:t>
            </a:r>
            <a:r>
              <a:rPr lang="en-US" dirty="0">
                <a:solidFill>
                  <a:srgbClr val="002060"/>
                </a:solidFill>
              </a:rPr>
              <a:t>semidefinite programs (SDP)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Key Theoretical Result</a:t>
            </a:r>
          </a:p>
          <a:p>
            <a:pPr lvl="2"/>
            <a:r>
              <a:rPr lang="en-US" dirty="0"/>
              <a:t>For the multi-user case, the paper shows that </a:t>
            </a:r>
            <a:r>
              <a:rPr lang="en-US" dirty="0">
                <a:solidFill>
                  <a:srgbClr val="7030A0"/>
                </a:solidFill>
              </a:rPr>
              <a:t>global optimum can generally be obtained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Main Outcome</a:t>
            </a:r>
          </a:p>
          <a:p>
            <a:pPr lvl="2"/>
            <a:r>
              <a:rPr lang="en-US" dirty="0"/>
              <a:t>The proposed beamforming designs achieve </a:t>
            </a:r>
            <a:r>
              <a:rPr lang="en-US" dirty="0">
                <a:solidFill>
                  <a:srgbClr val="0070C0"/>
                </a:solidFill>
              </a:rPr>
              <a:t>significant target estimation improvement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outperform </a:t>
            </a:r>
            <a:r>
              <a:rPr lang="en-US" dirty="0">
                <a:solidFill>
                  <a:srgbClr val="7030A0"/>
                </a:solidFill>
              </a:rPr>
              <a:t>state-of-the-art benchmark methods </a:t>
            </a:r>
          </a:p>
          <a:p>
            <a:pPr lvl="1"/>
            <a:r>
              <a:rPr lang="en-US" dirty="0"/>
              <a:t>A CRB-driven DFRC beamforming framework with closed-form single-user solutions </a:t>
            </a:r>
          </a:p>
          <a:p>
            <a:pPr lvl="1"/>
            <a:r>
              <a:rPr lang="en-US" dirty="0"/>
              <a:t>And globally optimal multi-user designs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C6932-78B9-EE40-D670-98396F28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84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EB30-B51A-18B6-584E-962FC53B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9DD84-6A75-7255-C339-B05E03883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A. System Setting</a:t>
                </a:r>
              </a:p>
              <a:p>
                <a:pPr lvl="1"/>
                <a:r>
                  <a:rPr lang="en-US" dirty="0"/>
                  <a:t>DFRC BS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transmit antennas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receive antennas </a:t>
                </a:r>
              </a:p>
              <a:p>
                <a:pPr lvl="1"/>
                <a:r>
                  <a:rPr lang="en-US" dirty="0"/>
                  <a:t>Serves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downlink single-antenna users and senses one target </a:t>
                </a:r>
              </a:p>
              <a:p>
                <a:pPr lvl="1"/>
                <a:r>
                  <a:rPr lang="en-US" dirty="0"/>
                  <a:t>Assumption: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 lvl="1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9DD84-6A75-7255-C339-B05E03883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5C3B4-8C7F-C7E5-373E-F061AAED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9DC57-AA14-801B-8752-C9565BCEC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901" y="2923021"/>
            <a:ext cx="3989992" cy="320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8EED68-A66B-7F56-9D19-CD5370D84149}"/>
              </a:ext>
            </a:extLst>
          </p:cNvPr>
          <p:cNvSpPr txBox="1"/>
          <p:nvPr/>
        </p:nvSpPr>
        <p:spPr>
          <a:xfrm>
            <a:off x="2492187" y="6293225"/>
            <a:ext cx="583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Fig. 1. </a:t>
            </a:r>
            <a:r>
              <a:rPr lang="en-US" dirty="0"/>
              <a:t>Dual-functional Radar-Communication System</a:t>
            </a:r>
          </a:p>
        </p:txBody>
      </p:sp>
    </p:spTree>
    <p:extLst>
      <p:ext uri="{BB962C8B-B14F-4D97-AF65-F5344CB8AC3E}">
        <p14:creationId xmlns:p14="http://schemas.microsoft.com/office/powerpoint/2010/main" val="351231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5D87-607E-1222-6EEB-E46DA75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08EEE-77EE-71D5-8DA2-6F1F088F94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and Radar Signal Models</a:t>
                </a:r>
              </a:p>
              <a:p>
                <a:pPr lvl="1"/>
                <a:r>
                  <a:rPr lang="en-US" dirty="0"/>
                  <a:t>Transmit signal: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(1)</a:t>
                </a:r>
                <a:endParaRPr lang="ar-AE" dirty="0"/>
              </a:p>
              <a:p>
                <a:pPr lvl="1"/>
                <a:r>
                  <a:rPr lang="en-US" dirty="0"/>
                  <a:t>Communication received signal: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𝐇𝐗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                             (2)</a:t>
                </a:r>
                <a:endParaRPr lang="ar-AE" dirty="0"/>
              </a:p>
              <a:p>
                <a:pPr lvl="1"/>
                <a:r>
                  <a:rPr lang="en-US" dirty="0"/>
                  <a:t>Stream covariance: 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                              (3)</a:t>
                </a:r>
                <a:endParaRPr lang="ar-AE" dirty="0"/>
              </a:p>
              <a:p>
                <a:pPr lvl="1"/>
                <a:r>
                  <a:rPr lang="en-US" dirty="0"/>
                  <a:t>Radar echo model: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                           (4)</a:t>
                </a: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08EEE-77EE-71D5-8DA2-6F1F088F94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0BC8C-BFED-1BBF-33B9-503BD60E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21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A585-218B-4B73-1AEE-10411235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A81A7-9B5A-D54A-404C-69CB68C71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Point Target and Extended Target Models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Point target: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i="1" smtClean="0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                             (5)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Extended target: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                         (6)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One line difference: </a:t>
                </a:r>
              </a:p>
              <a:p>
                <a:pPr lvl="2"/>
                <a:r>
                  <a:rPr lang="en-US" dirty="0"/>
                  <a:t>point target = single reflector </a:t>
                </a:r>
              </a:p>
              <a:p>
                <a:pPr lvl="2"/>
                <a:r>
                  <a:rPr lang="en-US" dirty="0"/>
                  <a:t>extended target = multiple scatterers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Performance metrics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sensing: </a:t>
                </a:r>
                <a:r>
                  <a:rPr lang="en-US" dirty="0"/>
                  <a:t>CRB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QoS: </a:t>
                </a:r>
                <a:r>
                  <a:rPr lang="en-US" dirty="0"/>
                  <a:t>per-user SINR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Point-target CRB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beamforming matrix is optimized to </a:t>
                </a:r>
                <a:r>
                  <a:rPr lang="en-US" dirty="0">
                    <a:solidFill>
                      <a:srgbClr val="7030A0"/>
                    </a:solidFill>
                  </a:rPr>
                  <a:t>minimize CRB </a:t>
                </a:r>
                <a:r>
                  <a:rPr lang="en-US" dirty="0"/>
                  <a:t>while satisfying user SINR requirements.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A81A7-9B5A-D54A-404C-69CB68C71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406" b="-1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24C3C-64A5-C406-9552-55D169E2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34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A10C-7255-814D-516E-791DDB2D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177BA-B34F-D174-D3EF-77E7BE3B9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Performance Metrics for the Point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Performance Metric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ar-AE" b="1">
                            <a:latin typeface="Cambria Math" panose="02040503050406030204" pitchFamily="18" charset="0"/>
                          </a:rPr>
                          <m:t>𝐀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(7)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Sample Covariance Matrix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(8)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</a:t>
                </a:r>
              </a:p>
              <a:p>
                <a:pPr lvl="2"/>
                <a:r>
                  <a:rPr lang="en-US" dirty="0"/>
                  <a:t>Because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obtain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𝐷𝐹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Using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It follows that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4"/>
                <a:r>
                  <a:rPr lang="en-US" dirty="0"/>
                  <a:t>So, the CRB is directly controlled by the beamforming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177BA-B34F-D174-D3EF-77E7BE3B9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8FD61-0666-9EC4-AB90-0AE8BD9C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403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947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B29D-7A7F-5FB5-6B60-D4201363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60AF5-EA46-6D96-4F64-4127299B5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B. Performance Metrics for the Point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Performance Metric</a:t>
                </a:r>
              </a:p>
              <a:p>
                <a:pPr lvl="2"/>
                <a:r>
                  <a:rPr lang="en-US" dirty="0"/>
                  <a:t>By writing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per-user SINR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(9)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</a:t>
                </a:r>
              </a:p>
              <a:p>
                <a:pPr lvl="2"/>
                <a:r>
                  <a:rPr lang="en-US" dirty="0"/>
                  <a:t>For one symbol interval,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the received signal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interference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power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60AF5-EA46-6D96-4F64-4127299B5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  <a:blipFill>
                <a:blip r:embed="rId2"/>
                <a:stretch>
                  <a:fillRect l="-522" t="-1171" b="-1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F8EDF-42D2-6CEE-FAAC-D12AFE8C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57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5C98-EC90-1DAB-1B83-C3BABF0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B8212-4EF6-80E2-CD96-A1AA3A361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Performance Metrics for the Extended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estimate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7030A0"/>
                    </a:solidFill>
                  </a:rPr>
                  <a:t>?</a:t>
                </a:r>
              </a:p>
              <a:p>
                <a:pPr lvl="2"/>
                <a:r>
                  <a:rPr lang="en-US" dirty="0"/>
                  <a:t>In the extended target case, the number of scatterers and their angles are unknown. </a:t>
                </a:r>
              </a:p>
              <a:p>
                <a:pPr lvl="2"/>
                <a:r>
                  <a:rPr lang="en-US" dirty="0"/>
                  <a:t>Therefore, the target response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is estimated directly, instead of estimating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Vectorized radar model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(10)</a:t>
                </a:r>
                <a:endParaRPr lang="ar-AE" b="0" dirty="0"/>
              </a:p>
              <a:p>
                <a:pPr lvl="2"/>
                <a:r>
                  <a:rPr lang="en-US" dirty="0"/>
                  <a:t>Where,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Matrix (FIM)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Rank-deficiency of the original DFRC signal</a:t>
                </a:r>
              </a:p>
              <a:p>
                <a:pPr lvl="2"/>
                <a:r>
                  <a:rPr lang="en-US" dirty="0"/>
                  <a:t>From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have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𝐷𝐹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400" dirty="0"/>
                  <a:t> is rank-deficient. </a:t>
                </a:r>
              </a:p>
              <a:p>
                <a:pPr lvl="4"/>
                <a:r>
                  <a:rPr lang="en-US" sz="1400" dirty="0"/>
                  <a:t>Hence, the available </a:t>
                </a:r>
                <a:r>
                  <a:rPr lang="en-US" sz="1400" dirty="0" err="1"/>
                  <a:t>DoFs</a:t>
                </a:r>
                <a:r>
                  <a:rPr lang="en-US" sz="1400" dirty="0"/>
                  <a:t> are insufficient to recover the full-rank matrix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1400" dirty="0"/>
                  <a:t>. </a:t>
                </a:r>
              </a:p>
              <a:p>
                <a:pPr lvl="4"/>
                <a:r>
                  <a:rPr lang="en-US" sz="1400" dirty="0"/>
                  <a:t>As a result, the FIM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𝐉</m:t>
                    </m:r>
                  </m:oMath>
                </a14:m>
                <a:r>
                  <a:rPr lang="en-US" sz="1400" dirty="0"/>
                  <a:t> becomes singular.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B8212-4EF6-80E2-CD96-A1AA3A361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348" b="-20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442A0-5022-FB30-6B9F-482EA97D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1175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95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0F95-D15B-35AC-515F-BF8B7DFD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EE221-0620-38BD-8915-6CB758819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Short derivation block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(10)</a:t>
                </a:r>
              </a:p>
              <a:p>
                <a:pPr lvl="2"/>
                <a:r>
                  <a:rPr lang="en-US" dirty="0"/>
                  <a:t>Starting from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Using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𝐀𝐁𝐂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we get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EE221-0620-38BD-8915-6CB758819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3AD97-87DB-9F5B-DA94-998DC465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81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A6BF-A78C-935F-5104-16549055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79974-9B54-A0FF-EFA9-78F475718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809914" cy="525864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Performance Metrics for the Extended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Augmented probing design</a:t>
                </a:r>
              </a:p>
              <a:p>
                <a:pPr lvl="2"/>
                <a:r>
                  <a:rPr lang="en-US" dirty="0"/>
                  <a:t>To increase the radar </a:t>
                </a:r>
                <a:r>
                  <a:rPr lang="en-US" dirty="0" err="1"/>
                  <a:t>DoFs</a:t>
                </a:r>
                <a:r>
                  <a:rPr lang="en-US" dirty="0"/>
                  <a:t>, dedicated probing streams are added: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b="0" dirty="0"/>
                  <a:t>       (13)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(14)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….,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   (15)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Full-rank sample covariance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(16)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now full rank, it is invertible.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CRB for the extended target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/>
                  <a:t>    (17)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Modified per-user SINR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∥"/>
                                <m:endChr m:val="∥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(18)</a:t>
                </a:r>
                <a:endParaRPr lang="ar-AE" b="0" dirty="0"/>
              </a:p>
              <a:p>
                <a:pPr lvl="2"/>
                <a:r>
                  <a:rPr lang="en-US" dirty="0"/>
                  <a:t>However, they also create extra interference to communication users </a:t>
                </a:r>
              </a:p>
              <a:p>
                <a:pPr lvl="2"/>
                <a:r>
                  <a:rPr lang="en-US" dirty="0"/>
                  <a:t>Which appears in the denominator of (18).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79974-9B54-A0FF-EFA9-78F475718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809914" cy="5258643"/>
              </a:xfrm>
              <a:blipFill>
                <a:blip r:embed="rId2"/>
                <a:stretch>
                  <a:fillRect l="-508" t="-1160" b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4D7E-AA48-054B-24AA-1540F538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620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2E0C-6D89-BDAE-7DE6-C4ADAFAE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B848A-518A-D2F6-3E06-A0ED30C59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Derivation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(16)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(17)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B848A-518A-D2F6-3E06-A0ED30C59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78E97-B999-9742-B93E-50DDEB44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81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ED1F-5EAC-5C5E-B941-87AA864A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BD30D-69EF-905A-CCED-16AF657BB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Optimization Problem</a:t>
                </a:r>
              </a:p>
              <a:p>
                <a:pPr lvl="2"/>
                <a:r>
                  <a:rPr lang="en-US" dirty="0"/>
                  <a:t>For a fixed target direction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the beamforming design is formulated as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(19)</a:t>
                </a:r>
                <a:endParaRPr lang="ar-AE" b="0" dirty="0"/>
              </a:p>
              <a:p>
                <a:pPr lvl="2"/>
                <a:r>
                  <a:rPr lang="en-US" dirty="0"/>
                  <a:t>Minimize radar angle-estimation error bound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CRB is a function of the beamforming matrix: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can be interpreted as optimizing the beamformer toward the direction of        interest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BD30D-69EF-905A-CCED-16AF657BB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72B0A-E43F-C223-DFEE-FD46351C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560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D8CB-FD18-9B8B-0989-6A67B469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59D89-1370-6F6A-4449-ACD573408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ULA Structure</a:t>
                </a:r>
              </a:p>
              <a:p>
                <a:pPr lvl="1"/>
                <a:r>
                  <a:rPr lang="en-US" dirty="0"/>
                  <a:t>Let there be only one communication user. 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Transmit steering vector</a:t>
                </a:r>
              </a:p>
              <a:p>
                <a:pPr lvl="2"/>
                <a:r>
                  <a:rPr lang="en-US" dirty="0"/>
                  <a:t>For an even number of antennas,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…..,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/>
                  <a:t>    (20)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Derivative of steering vector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          (21)</a:t>
                </a:r>
                <a:endParaRPr lang="ar-AE" dirty="0"/>
              </a:p>
              <a:p>
                <a:pPr lvl="2"/>
                <a:r>
                  <a:rPr lang="en-US" dirty="0"/>
                  <a:t>Similarly, the receive steering vector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and its derivative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have the same form.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due to array symmetry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/>
                  <a:t>    (22)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(22) is useful</a:t>
                </a:r>
              </a:p>
              <a:p>
                <a:pPr lvl="2"/>
                <a:r>
                  <a:rPr lang="en-US" dirty="0"/>
                  <a:t>These orthogonality relations simplify the CRB terms in (7), </a:t>
                </a:r>
              </a:p>
              <a:p>
                <a:pPr lvl="2"/>
                <a:r>
                  <a:rPr lang="en-US" dirty="0"/>
                  <a:t>Especially the cross terms involving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 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59D89-1370-6F6A-4449-ACD573408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BAE5F-8019-8B03-45E2-F8A6601C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979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F0BF-8302-586E-AD3E-7430D381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AE6BE-D2F3-EA25-ED5E-C5D1B2E49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Trace Simplification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≜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ar-AE" dirty="0"/>
                  <a:t>, </a:t>
                </a:r>
                <a:r>
                  <a:rPr lang="en-US" dirty="0"/>
                  <a:t>we simplify each term in the CRB.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First trace term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Cross trace term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𝐚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the surviving term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</m:oMath>
                </a14:m>
                <a:endParaRPr lang="en-US" b="1" dirty="0"/>
              </a:p>
              <a:p>
                <a:pPr lvl="2"/>
                <a:r>
                  <a:rPr lang="ar-AE" b="1" dirty="0"/>
                  <a:t> </a:t>
                </a:r>
                <a:r>
                  <a:rPr lang="en-US" dirty="0">
                    <a:solidFill>
                      <a:srgbClr val="7030A0"/>
                    </a:solidFill>
                  </a:rPr>
                  <a:t>Derivative trace term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(23)</a:t>
                </a:r>
                <a:endParaRPr lang="ar-AE" b="0" dirty="0"/>
              </a:p>
              <a:p>
                <a:pPr lvl="2"/>
                <a:r>
                  <a:rPr lang="en-US" dirty="0"/>
                  <a:t>Equation (23) is obtained by expanding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and eliminating the mixed terms using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AE6BE-D2F3-EA25-ED5E-C5D1B2E49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08D5-0497-7BDA-934A-3F659586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38659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870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5C7F-A44C-13BA-224B-608FC53E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C15917-00D1-9E32-406B-D641F4CDC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CRB Simplification</a:t>
                </a:r>
              </a:p>
              <a:p>
                <a:r>
                  <a:rPr lang="en-US" dirty="0"/>
                  <a:t>Substituting (23) into the point-target CRB in (7), the CRB reduces to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reformulation</a:t>
                </a:r>
              </a:p>
              <a:p>
                <a:pPr lvl="2"/>
                <a:r>
                  <a:rPr lang="en-US" dirty="0"/>
                  <a:t>Since all terms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constants,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 ⟺ 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  (25)</a:t>
                </a:r>
                <a:endParaRPr lang="ar-AE" b="0" dirty="0"/>
              </a:p>
              <a:p>
                <a:pPr lvl="2"/>
                <a:r>
                  <a:rPr lang="en-US" dirty="0"/>
                  <a:t>Thus, CRB minimization becomes a </a:t>
                </a:r>
                <a:r>
                  <a:rPr lang="en-US" dirty="0">
                    <a:solidFill>
                      <a:srgbClr val="7030A0"/>
                    </a:solidFill>
                  </a:rPr>
                  <a:t>directional power maximization problem: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b="0"/>
                      <m:t>aximize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radiation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toward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angle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While satisfying the user SINR and power constraints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C15917-00D1-9E32-406B-D641F4CDC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A12A3-6328-6BC7-2BD6-12245031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77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80E9-DEEF-E07D-172A-4B0B1832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1617B-3AE2-3E12-E7B4-6D3376D3A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Derivation from (24) to (25)</a:t>
                </a:r>
              </a:p>
              <a:p>
                <a:pPr lvl="1"/>
                <a:r>
                  <a:rPr lang="en-US" dirty="0"/>
                  <a:t>From (24),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is constant.</a:t>
                </a:r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Which is equivalent to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fixed.</a:t>
                </a:r>
              </a:p>
              <a:p>
                <a:pPr lvl="2"/>
                <a:r>
                  <a:rPr lang="en-US" dirty="0"/>
                  <a:t>Hence the optimization becomes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1617B-3AE2-3E12-E7B4-6D3376D3A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C710C-629B-56C9-F0FF-05081291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16622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05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E3F7-9437-C128-BEF3-4D16163D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90298-CB70-1300-17C3-F65B2F89B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1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1</a:t>
                </a:r>
              </a:p>
              <a:p>
                <a:pPr lvl="1"/>
                <a:r>
                  <a:rPr lang="en-US" dirty="0"/>
                  <a:t>The optimal solution of (25) satisfies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dirty="0"/>
                  <a:t>    (26)</a:t>
                </a:r>
                <a:endParaRPr lang="ar-AE" b="0" dirty="0"/>
              </a:p>
              <a:p>
                <a:pPr lvl="1"/>
                <a:r>
                  <a:rPr lang="en-US" dirty="0"/>
                  <a:t>The optimal beamformer lies in the 2-dimensional subspace generated by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Hence, no component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needed in the optimum.</a:t>
                </a:r>
              </a:p>
              <a:p>
                <a:pPr lvl="1"/>
                <a:r>
                  <a:rPr lang="en-US" dirty="0"/>
                  <a:t>Consider any optimal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Decompose it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b="0" dirty="0"/>
                  <a:t>    (50)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SINR contribution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/>
                  <a:t> contributes to the SINR: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0" dirty="0"/>
                  <a:t>  (51a)</a:t>
                </a:r>
                <a:endParaRPr lang="ar-AE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90298-CB70-1300-17C3-F65B2F89B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9DF2D-8FB6-B6EC-2602-79E3695D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99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EFC8-863E-50B3-76F0-79389F94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82A0-3D50-D3F6-AD4E-4758A4833B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1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1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Power constraint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  (51b)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Objective</a:t>
                </a:r>
              </a:p>
              <a:p>
                <a:pPr lvl="2"/>
                <a:r>
                  <a:rPr lang="en-US" dirty="0"/>
                  <a:t>Also,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m:rPr>
                        <m:sty m:val="p"/>
                      </m:rPr>
                      <a:rPr lang="ar-AE" b="0" i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ar-AE" b="0" i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does not help the objective, and does not help the SINR, but it consumes power.</a:t>
                </a:r>
              </a:p>
              <a:p>
                <a:pPr lvl="2"/>
                <a:r>
                  <a:rPr lang="en-US" dirty="0"/>
                  <a:t>Set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the objective is strictly increased without violating the constraints. Therefore,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Which </a:t>
                </a:r>
                <a:r>
                  <a:rPr lang="en-US" dirty="0">
                    <a:solidFill>
                      <a:srgbClr val="0000FF"/>
                    </a:solidFill>
                  </a:rPr>
                  <a:t>proves Lemma 1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82A0-3D50-D3F6-AD4E-4758A4833B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530B2-D9BD-182C-7B8A-D2F02266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5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3EA-7915-87C4-AB31-C03D3390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F97E1-6EE5-A13F-9A9E-5E84809EB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Theorem 1</a:t>
                </a:r>
              </a:p>
              <a:p>
                <a:pPr lvl="1"/>
                <a:r>
                  <a:rPr lang="en-US" dirty="0"/>
                  <a:t>Using Lemma 1, the optimal solution to (25)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ar-AE" i="1"/>
                                <m:t> 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den>
                              </m:f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1" smtClean="0"/>
                                <m:t> 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r>
                                <a:rPr lang="ar-AE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(27)</a:t>
                </a:r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r>
                  <a:rPr lang="en-US" b="0" dirty="0"/>
                  <a:t>                                                    (28)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r>
                  <a:rPr lang="en-US" b="0" dirty="0"/>
                  <a:t>                                          (29)</a:t>
                </a:r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Case 1: </a:t>
                </a:r>
                <a:r>
                  <a:rPr lang="en-US" dirty="0"/>
                  <a:t>the SINR constraint is inactive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Case 2: </a:t>
                </a:r>
                <a:r>
                  <a:rPr lang="en-US" dirty="0"/>
                  <a:t>the SINR constraint is active, so the beamformer must balance the user direction and the           target direction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F97E1-6EE5-A13F-9A9E-5E84809EB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BA86B-E180-3167-146E-3D7581E1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53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A794-B9F4-9CAD-6201-9EE36F1B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315FD-82D8-4277-67ED-F77F74C1A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Full power must be used</a:t>
                </a:r>
              </a:p>
              <a:p>
                <a:pPr lvl="2"/>
                <a:r>
                  <a:rPr lang="en-US" dirty="0"/>
                  <a:t>Suppose an optimal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Now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feasible and yields a strictly larger objective.</a:t>
                </a:r>
              </a:p>
              <a:p>
                <a:pPr lvl="1"/>
                <a:r>
                  <a:rPr lang="en-US" dirty="0"/>
                  <a:t>At optimum,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315FD-82D8-4277-67ED-F77F74C1A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B9CA1-CD62-1CBC-70E0-9AFAD693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1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E31D-9131-197E-28AA-49CD6E96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019C4-6CE4-44E6-4CF4-F631D8AE1F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Inactive SINR case</a:t>
                </a:r>
              </a:p>
              <a:p>
                <a:pPr lvl="2"/>
                <a:r>
                  <a:rPr lang="en-US" dirty="0"/>
                  <a:t>If the SINR constraint is inactive, all power should be allocated along the target direction: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This is valid if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Or equivalently,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Which gives the first case of (27).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019C4-6CE4-44E6-4CF4-F631D8AE1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71771-DDB4-37EF-556A-68C0C63F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899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0DE3-2915-5FD8-BCBD-2EAF6509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6458E-A2FF-F935-0854-6224D8E2E0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Active SINR case</a:t>
                </a:r>
              </a:p>
              <a:p>
                <a:pPr lvl="2"/>
                <a:r>
                  <a:rPr lang="en-US" dirty="0"/>
                  <a:t>From Lemma 1,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Choose the orthonormal basis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b="0" dirty="0"/>
                  <a:t>                                (54)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 we have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the active SINR constraint becomes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Also, since the optimum uses full power,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6458E-A2FF-F935-0854-6224D8E2E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7BDAE-2F0D-277B-386B-87803E5D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75570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45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9CF4-67BC-FE0B-67DA-3BF627CE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C156-1224-52A2-375A-2C970F6D7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Active SINR case</a:t>
                </a:r>
              </a:p>
              <a:p>
                <a:pPr lvl="2"/>
                <a:r>
                  <a:rPr lang="en-US" dirty="0"/>
                  <a:t>So, the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lim>
                    </m:limLow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∣"/>
                            <m:endChr m:val="∣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(55)</a:t>
                </a:r>
                <a:endParaRPr lang="ar-AE" dirty="0"/>
              </a:p>
              <a:p>
                <a:pPr lvl="2"/>
                <a:r>
                  <a:rPr lang="en-US" dirty="0"/>
                  <a:t>Hence,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                                                (56)</a:t>
                </a:r>
                <a:endParaRPr lang="ar-AE" dirty="0"/>
              </a:p>
              <a:p>
                <a:pPr lvl="2"/>
                <a:r>
                  <a:rPr lang="en-US" dirty="0"/>
                  <a:t>To maximize the objective, choose the phases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aligned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respectively.    This yields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Which gives the second case of (27).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C156-1224-52A2-375A-2C970F6D7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1043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61D4D-842F-92BA-5830-C42B46E4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28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3337-3C73-B7A1-6E76-41E03D8A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B1713-8F43-8AE7-6568-23EA4ACFB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/>
                  <a:t>From (7), the point-target CRB has a fractional non-convex form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 b="1" i="0">
                                                    <a:latin typeface="Cambria Math" panose="02040503050406030204" pitchFamily="18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p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𝐑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 b="1" i="0">
                                                    <a:latin typeface="Cambria Math" panose="02040503050406030204" pitchFamily="18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p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𝐑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maximizing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or equivalently minimizing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solving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⪰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(30)</a:t>
                </a:r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B1713-8F43-8AE7-6568-23EA4ACFB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6749F-86C8-80F2-48C4-67E768D9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265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99B-CD37-A18D-743A-1787F905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E1E93-45F9-51E9-A7FC-E3638F9A07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solving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⪰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(30)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Schur complement derivation</a:t>
                </a:r>
              </a:p>
              <a:p>
                <a:pPr lvl="2"/>
                <a:r>
                  <a:rPr lang="en-US" dirty="0"/>
                  <a:t>For a </a:t>
                </a:r>
                <a:r>
                  <a:rPr lang="en-US" dirty="0">
                    <a:solidFill>
                      <a:srgbClr val="002060"/>
                    </a:solidFill>
                  </a:rPr>
                  <a:t>Hermitian matrix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 Schur complement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E1E93-45F9-51E9-A7FC-E3638F9A0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DE450-98E5-CCA8-DE26-E400C15B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816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A5A0-8E10-A9DB-494A-88C4E62A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3948B-000D-5920-E2F8-4D808D64D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Now set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(30) implies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maximizing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reproduces the same CRB objective structure.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3948B-000D-5920-E2F8-4D808D64D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9DAC8-95AA-F30C-C300-E229A2BC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81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5BCE-291F-423B-89EA-3EF03131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45D04-AFA3-C9EA-CAF3-104A0574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Rewriting the original multi-user problem</a:t>
                </a:r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Problem (19)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 smtClean="0"/>
                          <m:t> </m:t>
                        </m:r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 smtClean="0"/>
                          <m:t> 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(31)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45D04-AFA3-C9EA-CAF3-104A0574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42E-64FF-AA95-2DCF-A8526700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058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842F-BAB0-3B47-2BF3-C715BF69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61B62-21F2-F56F-0D87-1757035788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SINR constraint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0" dirty="0"/>
                  <a:t>          (32)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 condition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desired solution should satisfy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61B62-21F2-F56F-0D87-1757035788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91E2A-27D6-6302-DFF8-228DE3A2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53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E930-9569-6A9C-817F-140D7784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22D07-8EFE-0B2F-1ED2-E43B6BA9F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SDR step</a:t>
                </a:r>
              </a:p>
              <a:p>
                <a:pPr lvl="2"/>
                <a:r>
                  <a:rPr lang="en-US" dirty="0"/>
                  <a:t>Drop the non-convex rank-one constraints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Then (31) is relaxed to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                                     (33)</a:t>
                </a:r>
                <a:endParaRPr lang="ar-AE" b="0" dirty="0"/>
              </a:p>
              <a:p>
                <a:pPr lvl="2"/>
                <a:r>
                  <a:rPr lang="en-US" dirty="0"/>
                  <a:t>Objective is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LMI constraint is affine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SINR constraints are linear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Power constraint is linear </a:t>
                </a:r>
              </a:p>
              <a:p>
                <a:pPr lvl="2"/>
                <a:r>
                  <a:rPr lang="en-US" dirty="0"/>
                  <a:t>PSD constraints are convex </a:t>
                </a:r>
              </a:p>
              <a:p>
                <a:pPr lvl="2"/>
                <a:r>
                  <a:rPr lang="en-US" dirty="0"/>
                  <a:t>Therefore, (33) is an SDP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22D07-8EFE-0B2F-1ED2-E43B6BA9F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DC1B8-5BE6-B678-4ADA-54ECDC8E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46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6C81-477A-7CC7-EBF4-2E252546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6879-1ABE-55E5-1916-8BCBAA4DFD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Theorem 2</a:t>
                </a:r>
              </a:p>
              <a:p>
                <a:pPr lvl="1"/>
                <a:r>
                  <a:rPr lang="en-US" dirty="0"/>
                  <a:t>Suppose that problem (33) is feasible. Let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Under the condition that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of full column rank, the optimal solution of (33) always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SDR is not only a relaxation </a:t>
                </a:r>
              </a:p>
              <a:p>
                <a:pPr lvl="1"/>
                <a:r>
                  <a:rPr lang="en-US" dirty="0"/>
                  <a:t>It is tight </a:t>
                </a:r>
              </a:p>
              <a:p>
                <a:pPr lvl="1"/>
                <a:r>
                  <a:rPr lang="en-US" dirty="0"/>
                  <a:t>Solving (33) yields the globally optimal solution of (31) in general 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dirty="0"/>
                  <a:t> is random with independently distributed entries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full column rank almost always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6879-1ABE-55E5-1916-8BCBAA4DFD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7C83-8B4B-5D56-DC93-700D2D4E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83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00D9-EA64-B1BC-9E77-667BB9F4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38126-8AD2-A8B3-1193-93DD09E84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KKT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Dual variables</a:t>
                </a:r>
              </a:p>
              <a:p>
                <a:pPr lvl="2"/>
                <a:r>
                  <a:rPr lang="en-US" dirty="0"/>
                  <a:t>For problem (33), Appendix C introduces:</a:t>
                </a:r>
              </a:p>
              <a:p>
                <a:pPr lvl="2"/>
                <a:r>
                  <a:rPr lang="en-US" dirty="0"/>
                  <a:t>Scalar dual variables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for the linear constraints</a:t>
                </a:r>
              </a:p>
              <a:p>
                <a:pPr lvl="2"/>
                <a:r>
                  <a:rPr lang="en-US" dirty="0"/>
                  <a:t>Matrix dual variables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for the PSD constraints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Complementary conditions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(57)</a:t>
                </a:r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                                    (58)</a:t>
                </a:r>
                <a:endParaRPr lang="ar-AE" b="0" dirty="0"/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simplifies accordingly.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38126-8AD2-A8B3-1193-93DD09E84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626B3-5116-6AF2-014C-09CD9B31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29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FA21-FBF4-D4D7-8A82-39669B32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64DFF-D4C2-CA96-E044-32D23FD2D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KKT Setup</a:t>
                </a: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Lagrangian</a:t>
                </a:r>
                <a:r>
                  <a:rPr lang="en-US" dirty="0">
                    <a:solidFill>
                      <a:srgbClr val="7030A0"/>
                    </a:solidFill>
                  </a:rPr>
                  <a:t> stationarity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                                                            (60)</a:t>
                </a:r>
                <a:endParaRPr lang="ar-AE" dirty="0"/>
              </a:p>
              <a:p>
                <a:pPr lvl="1"/>
                <a:r>
                  <a:rPr lang="en-US" dirty="0"/>
                  <a:t>Then the stationarity conditions give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               (61)</a:t>
                </a:r>
                <a:endParaRPr lang="ar-AE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is the matrix induced by the Schur-complement block.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64DFF-D4C2-CA96-E044-32D23FD2D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236F1-5FE7-7966-AFC7-92DA8C33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88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6BBB-CFA8-2D77-9170-3336546F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D048B-D3D4-C0A5-0713-30F1ABFF7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Structure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From Appendix C,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⪰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built from the two-dimensional subspace spanned by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 the PSD matrix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is strictly positive definite after using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contributes exactly rank 2.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From stationarity,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D048B-D3D4-C0A5-0713-30F1ABFF7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CCB0-53CE-3E62-F3BF-FDCCB170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41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76EB-CF06-5FD2-5792-FA741765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B7647-634D-3739-11E5-0EB9B5A76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range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must lie inside the null 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if we can show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automatically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B7647-634D-3739-11E5-0EB9B5A76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A7574-3F35-F76B-A9DD-2762B4B5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A27A-0288-1780-9FA0-96C2D629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4A31C-1280-4937-6357-CA7699458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Case split in Appendix C</a:t>
                </a:r>
              </a:p>
              <a:p>
                <a:pPr lvl="1"/>
                <a:r>
                  <a:rPr lang="en-US" dirty="0"/>
                  <a:t>The proof splits the index set into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                (69)</a:t>
                </a:r>
                <a:endParaRPr lang="ar-AE" dirty="0"/>
              </a:p>
              <a:p>
                <a:pPr lvl="1"/>
                <a:r>
                  <a:rPr lang="en-US" dirty="0"/>
                  <a:t>And analyzes three cases: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Appendix C proves:</a:t>
                </a:r>
              </a:p>
              <a:p>
                <a:pPr lvl="2"/>
                <a:r>
                  <a:rPr lang="en-US" dirty="0"/>
                  <a:t>Case 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Case II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rank-one optimal solution can be constructed </a:t>
                </a:r>
              </a:p>
              <a:p>
                <a:pPr lvl="2"/>
                <a:r>
                  <a:rPr lang="en-US" dirty="0"/>
                  <a:t>Case III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if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full column rank, then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have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hence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 Theorem 2 follows.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4A31C-1280-4937-6357-CA7699458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DA6CE-5FE7-12AC-6D42-365E4B4F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84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CDD9-0758-B147-8233-9575839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BDD2F-4FB9-9813-D80E-CA9E641675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Multi-User Case: Case I and Case II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so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(70)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must be singular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        (71)</a:t>
                </a:r>
                <a:endParaRPr lang="ar-AE" b="0" dirty="0"/>
              </a:p>
              <a:p>
                <a:pPr lvl="2"/>
                <a:r>
                  <a:rPr lang="en-US" dirty="0"/>
                  <a:t>and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Without loss of generality,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dirty="0"/>
                  <a:t>                                           (72)</a:t>
                </a:r>
                <a:endParaRPr lang="ar-AE" b="0" dirty="0"/>
              </a:p>
              <a:p>
                <a:pPr lvl="2"/>
                <a:r>
                  <a:rPr lang="en-US" dirty="0"/>
                  <a:t>Appendix C shows that rank-one optimal solutions can still be constructed by redistributing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</m:sub>
                    </m:sSub>
                  </m:oMath>
                </a14:m>
                <a:r>
                  <a:rPr lang="ar-AE" dirty="0"/>
                  <a:t>-</a:t>
                </a:r>
                <a:r>
                  <a:rPr lang="en-US" dirty="0"/>
                  <a:t>component across users without changing feasibility or objective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BDD2F-4FB9-9813-D80E-CA9E64167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7180-E4A2-83AA-57CF-0C1FE66B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69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2641-9FB0-BCEF-DEE5-63F71DEC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C3B32-F2EE-FC82-707A-274A56A62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Multi-User Case: Case III and Lemma 3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𝐃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b="0" dirty="0"/>
                  <a:t>     (80)</a:t>
                </a:r>
                <a:endParaRPr lang="ar-AE" b="0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Lemma 3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dirty="0"/>
                  <a:t> is full column rank, 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Contradiction argument</a:t>
                </a:r>
              </a:p>
              <a:p>
                <a:pPr lvl="1"/>
                <a:r>
                  <a:rPr lang="en-US" dirty="0"/>
                  <a:t>Assume instead that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</m:acc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be the dominant eigenvector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Then Appendix C derives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                                                    (84)</a:t>
                </a:r>
                <a:endParaRPr lang="ar-AE" b="0" dirty="0"/>
              </a:p>
              <a:p>
                <a:pPr lvl="1"/>
                <a:r>
                  <a:rPr lang="en-US" dirty="0"/>
                  <a:t>and also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    (85)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C3B32-F2EE-FC82-707A-274A56A62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5C01-3465-70B6-461D-B488B7EA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483066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916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FFC9-D910-6045-FB02-87CB8E12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AC14-4CCB-18D2-46E9-CB14C3F9B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Contradiction argument</a:t>
                </a:r>
              </a:p>
              <a:p>
                <a:pPr lvl="1"/>
                <a:r>
                  <a:rPr lang="en-US" dirty="0"/>
                  <a:t>Hence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  <m:e/>
                        <m:e/>
                      </m:mr>
                    </m:m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write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𝐃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(87)</a:t>
                </a:r>
                <a:endParaRPr lang="ar-AE" dirty="0"/>
              </a:p>
              <a:p>
                <a:pPr lvl="1"/>
                <a:r>
                  <a:rPr lang="en-US" dirty="0"/>
                  <a:t>Which contradicts the full column rank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 Therefore,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implies that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forcing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which is infeasible.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finally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That completes the proof of Theorem 2.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AC14-4CCB-18D2-46E9-CB14C3F9B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5F7F7-43BB-A8F3-3250-C5E1FA5C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713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A1E-AE74-2DFE-A59C-64CD4697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54316-A16F-BA0D-FE07-F660B217D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</a:t>
                </a:r>
              </a:p>
              <a:p>
                <a:pPr lvl="1"/>
                <a:r>
                  <a:rPr lang="en-US" dirty="0"/>
                  <a:t>From Section II-C,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(16)</a:t>
                </a:r>
                <a:endParaRPr lang="ar-AE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/>
                  <a:t>                                     (17)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 is constant,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</m:oMath>
                </a14:m>
                <a:r>
                  <a:rPr lang="en-US" dirty="0"/>
                  <a:t> is equivalent to minimizing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Thus, the extended-target beamforming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              (34)</a:t>
                </a:r>
              </a:p>
              <a:p>
                <a:pPr lvl="3"/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54316-A16F-BA0D-FE07-F660B217D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93526-C146-4A88-9B07-63781281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222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8A7A-208C-CB6C-4CB7-B3A0DF00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11287-B2D2-FC37-67E1-74855237C8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Lifting the Variables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(35)</a:t>
                </a:r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objective in (34)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is the covariance-domain version of the beamforming design.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11287-B2D2-FC37-67E1-74855237C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76810-A26D-2DEB-6467-1E0D2E9A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D22E-AAB0-2C1C-C451-42039661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2A0C0-0CF0-6B32-EC63-B5C07520D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SINR and Power Constraints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Modified SINR from Section II-C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+∥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(18)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SINR constraint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Power constraint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get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2A0C0-0CF0-6B32-EC63-B5C07520D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3D15-5244-9FB4-03D0-A3C35B9F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369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C51E-7E0E-B1E3-1F0A-583EC28F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459021-406C-D316-A90A-2AEB1EDAA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SDR Form</a:t>
                </a:r>
              </a:p>
              <a:p>
                <a:pPr lvl="1"/>
                <a:r>
                  <a:rPr lang="en-US" dirty="0"/>
                  <a:t>Substituting the lifted variables into (34), the problem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                  (36)</a:t>
                </a:r>
                <a:endParaRPr lang="ar-AE" b="0" dirty="0"/>
              </a:p>
              <a:p>
                <a:pPr lvl="1"/>
                <a:r>
                  <a:rPr lang="en-US" dirty="0"/>
                  <a:t>Why (36) is convex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gives a valid inverse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is convex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All constraints are linear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Therefore, (36) is a convex optimization problem.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459021-406C-D316-A90A-2AEB1EDAA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E35E1-0EDE-3BD2-E7CE-9E9F1A3E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274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3FE3-A253-422E-3582-1FD89FBA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93E49-6D14-6588-581C-96B91A57B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Problem Reformulation</a:t>
                </a:r>
              </a:p>
              <a:p>
                <a:pPr lvl="1"/>
                <a:r>
                  <a:rPr lang="en-US" dirty="0"/>
                  <a:t>For the single-user case, 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problem (36) can be recast as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(37)</a:t>
                </a:r>
                <a:endParaRPr lang="ar-AE" b="0" dirty="0"/>
              </a:p>
              <a:p>
                <a:pPr lvl="1"/>
                <a:r>
                  <a:rPr lang="en-US" dirty="0"/>
                  <a:t>In this case,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93E49-6D14-6588-581C-96B91A57B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B1881-6097-38B8-4DEE-F1A9BAD4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438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8AD-1DD5-A94A-3EEF-8E6FE50E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6F04F-A47F-1E64-DFDE-C4F10FC8C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2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Lemma 2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is an eigenvector of the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of problem (37).</a:t>
                </a:r>
              </a:p>
              <a:p>
                <a:pPr lvl="1"/>
                <a:r>
                  <a:rPr lang="en-US" dirty="0"/>
                  <a:t>The optimal transmit covariance has one eigen-direction aligned with the user channel.</a:t>
                </a:r>
              </a:p>
              <a:p>
                <a:pPr lvl="1"/>
                <a:r>
                  <a:rPr lang="en-US" dirty="0"/>
                  <a:t>Hence, the communication beamformer naturally has </a:t>
                </a:r>
                <a:r>
                  <a:rPr lang="en-US" dirty="0">
                    <a:solidFill>
                      <a:srgbClr val="7030A0"/>
                    </a:solidFill>
                  </a:rPr>
                  <a:t>MRT structure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6F04F-A47F-1E64-DFDE-C4F10FC8C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1699-8C17-0B62-0C60-A254FBD4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71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4DB4-1306-9E58-D148-29C821E0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9E01-86EC-1C46-D3E3-9DCCF4038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/>
                  <a:t>Given an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construct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(38)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this choice?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have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this maximizes the useful signal term.</a:t>
                </a:r>
              </a:p>
              <a:p>
                <a:pPr lvl="2"/>
                <a:r>
                  <a:rPr lang="en-US" dirty="0"/>
                  <a:t>Also,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the interference term becomes zero.</a:t>
                </a:r>
              </a:p>
              <a:p>
                <a:pPr lvl="1"/>
                <a:r>
                  <a:rPr lang="en-US" b="1" dirty="0"/>
                  <a:t>Therefore</a:t>
                </a:r>
              </a:p>
              <a:p>
                <a:pPr lvl="2"/>
                <a:r>
                  <a:rPr lang="en-US" dirty="0"/>
                  <a:t>objective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unchanged </a:t>
                </a:r>
              </a:p>
              <a:p>
                <a:pPr lvl="2"/>
                <a:r>
                  <a:rPr lang="en-US" dirty="0"/>
                  <a:t>power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unchanged </a:t>
                </a:r>
              </a:p>
              <a:p>
                <a:pPr lvl="2"/>
                <a:r>
                  <a:rPr lang="en-US" dirty="0"/>
                  <a:t>SINR improved or maximized </a:t>
                </a:r>
              </a:p>
              <a:p>
                <a:pPr lvl="2"/>
                <a:r>
                  <a:rPr lang="en-US" dirty="0"/>
                  <a:t>Thus (38) is optimal.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9E01-86EC-1C46-D3E3-9DCCF4038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2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DD36-0C58-94F2-4620-F82401B2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85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6575-DB9F-A1B0-F874-42C365DD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933F3-A68C-7C80-E024-157BAB997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argument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fully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we get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Let the eigenvalue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be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en-US" b="0" dirty="0"/>
                  <a:t>            (39)</a:t>
                </a:r>
                <a:endParaRPr lang="ar-AE" b="0" dirty="0"/>
              </a:p>
              <a:p>
                <a:pPr lvl="3"/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positive eigenvalues.</a:t>
                </a:r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(40)</a:t>
                </a:r>
                <a:endParaRPr lang="ar-AE" b="0" dirty="0"/>
              </a:p>
              <a:p>
                <a:pPr lvl="2"/>
                <a:r>
                  <a:rPr lang="en-US" dirty="0"/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orthogonal to the eigenspace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933F3-A68C-7C80-E024-157BAB997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3877-A587-9ED8-EA3E-4A871F6C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3692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42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D2EF-C270-111D-7E6D-0BA71D97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95D6C-1080-EC8C-43D9-1EB305050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argument</a:t>
                </a:r>
              </a:p>
              <a:p>
                <a:pPr lvl="2"/>
                <a:r>
                  <a:rPr lang="en-US" dirty="0"/>
                  <a:t>Now define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</a:rPr>
                      <m:t>𝚲</m:t>
                    </m:r>
                    <m:r>
                      <a:rPr lang="el-G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Hence,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l-GR" b="1" i="1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an eigenvector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95D6C-1080-EC8C-43D9-1EB305050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F6176-77DB-879D-F410-CC175D0B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904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87A1-A2E1-0781-FD6A-8A66ACB8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4589-AB22-DFD5-0910-6D25E7F10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Theorem 3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Theorem 3</a:t>
                </a:r>
              </a:p>
              <a:p>
                <a:pPr lvl="2"/>
                <a:r>
                  <a:rPr lang="en-US" dirty="0"/>
                  <a:t>The optimal solution of (37)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(43)</a:t>
                </a:r>
                <a:endParaRPr lang="ar-AE" b="0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(44)</a:t>
                </a:r>
                <a:endParaRPr lang="ar-AE" b="0" dirty="0"/>
              </a:p>
              <a:p>
                <a:pPr lvl="2"/>
                <a:r>
                  <a:rPr lang="en-US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(45)</a:t>
                </a:r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Key point</a:t>
                </a:r>
              </a:p>
              <a:p>
                <a:pPr lvl="3"/>
                <a:r>
                  <a:rPr lang="en-US" dirty="0"/>
                  <a:t>These closed-form solutions satisfy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So, they are also optimal for the original problem (34).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4589-AB22-DFD5-0910-6D25E7F10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F2C8E-5A65-45B9-920A-6A9E939F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3959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4C24-8530-BA2C-8F66-6E157ABB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45C654-71F9-D963-C352-4F0F00FE0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Eigenvalue Reformulation</a:t>
                </a:r>
              </a:p>
              <a:p>
                <a:pPr lvl="1"/>
                <a:r>
                  <a:rPr lang="en-US" dirty="0"/>
                  <a:t>Using Lemma 2 and (42), write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/∥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problem (37)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</m:sSubSup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                                                 (89)</a:t>
                </a:r>
                <a:endParaRPr lang="ar-AE" b="0" dirty="0"/>
              </a:p>
              <a:p>
                <a:pPr lvl="1"/>
                <a:r>
                  <a:rPr lang="en-US" dirty="0"/>
                  <a:t>Why this is true</a:t>
                </a:r>
              </a:p>
              <a:p>
                <a:pPr lvl="2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orthogonal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 so the interference term vanishes.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45C654-71F9-D963-C352-4F0F00FE0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  <a:blipFill>
                <a:blip r:embed="rId2"/>
                <a:stretch>
                  <a:fillRect l="-522" t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F4A9-42A3-3DED-7716-4B7C5CFB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705374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548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D0E5-A87B-DADF-8634-DACD636A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930D-DC16-53E4-26E7-17D16C1C2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KKT Conditions</a:t>
                </a:r>
              </a:p>
              <a:p>
                <a:pPr lvl="1"/>
                <a:r>
                  <a:rPr lang="en-US" dirty="0"/>
                  <a:t>Form the </a:t>
                </a:r>
                <a:r>
                  <a:rPr lang="en-US" dirty="0" err="1"/>
                  <a:t>Lagrangian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b="0" dirty="0"/>
                  <a:t>           (90)</a:t>
                </a:r>
                <a:endParaRPr lang="ar-AE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dual variables.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KKT conditions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(91a)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     (91b)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(91c)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(91d)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(91e)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:r>
                  <a:rPr lang="en-US" dirty="0"/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b="0" dirty="0"/>
                  <a:t>     (92a)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(92b)</a:t>
                </a:r>
                <a:endParaRPr lang="ar-AE" b="0" dirty="0"/>
              </a:p>
              <a:p>
                <a:pPr lvl="2"/>
                <a:r>
                  <a:rPr lang="en-US" dirty="0"/>
                  <a:t>From (92b),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hence the power budget is active: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930D-DC16-53E4-26E7-17D16C1C2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F369E-6927-2960-C283-CFC26E6E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8542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94D4-31B4-4249-3329-3507B0AA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C94EE-1523-8993-71BD-177AC6F0F4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Closed-Form Cases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1: SINR constraint inactive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from (92a) and (92b),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all eigenvalues are equal: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     (93)</a:t>
                </a:r>
                <a:endParaRPr lang="ar-AE" b="0" dirty="0"/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                                (94)</a:t>
                </a:r>
                <a:endParaRPr lang="ar-AE" b="0" dirty="0"/>
              </a:p>
              <a:p>
                <a:pPr lvl="1"/>
                <a:r>
                  <a:rPr lang="en-US" dirty="0"/>
                  <a:t>This requires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(95)</a:t>
                </a:r>
                <a:br>
                  <a:rPr lang="ar-AE" dirty="0"/>
                </a:br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C94EE-1523-8993-71BD-177AC6F0F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A3F0D-4968-4F1E-341A-268BC743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502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C270-09FF-3C9C-E3F9-6850292B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52288-BE0B-91AC-D24F-34E0A1093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Closed-Form Cases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2: SINR constraint active</a:t>
                </a:r>
              </a:p>
              <a:p>
                <a:pPr lvl="1"/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the SINR constraint is tight: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the remaining power is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 from (92b)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are equal,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 (96)</a:t>
                </a:r>
                <a:endParaRPr lang="ar-AE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dirty="0"/>
                  <a:t>                                              (97)</a:t>
                </a:r>
                <a:endParaRPr lang="ar-AE" dirty="0"/>
              </a:p>
              <a:p>
                <a:pPr lvl="2"/>
                <a:r>
                  <a:rPr lang="en-US" dirty="0">
                    <a:solidFill>
                      <a:srgbClr val="0000FF"/>
                    </a:solidFill>
                  </a:rPr>
                  <a:t>which completes the proof.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52288-BE0B-91AC-D24F-34E0A1093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8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7419-8657-BDB6-1086-4000F8C6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854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CA1B-C2EC-3082-2317-C85EEB25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302F3-3ECF-D737-BA23-A88B0338D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 in the Multi-User Case</a:t>
                </a:r>
              </a:p>
              <a:p>
                <a:pPr lvl="1"/>
                <a:r>
                  <a:rPr lang="en-US" dirty="0"/>
                  <a:t>Although (36) is convex and can be solved numerically, </a:t>
                </a:r>
              </a:p>
              <a:p>
                <a:pPr lvl="1"/>
                <a:r>
                  <a:rPr lang="en-US" dirty="0"/>
                  <a:t>its solution is not necessarily rank one.</a:t>
                </a:r>
              </a:p>
              <a:p>
                <a:pPr lvl="1"/>
                <a:r>
                  <a:rPr lang="en-US" dirty="0"/>
                  <a:t>The desired communication covariance matrices should satisfy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ideally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However, solving (36) may yield higher-rank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Problem</a:t>
                </a:r>
              </a:p>
              <a:p>
                <a:pPr lvl="2"/>
                <a:r>
                  <a:rPr lang="en-US" dirty="0"/>
                  <a:t>Eigenvalue decomposition gives only approximation </a:t>
                </a:r>
              </a:p>
              <a:p>
                <a:pPr lvl="2"/>
                <a:r>
                  <a:rPr lang="en-US" dirty="0"/>
                  <a:t>Gaussian randomization is expensive </a:t>
                </a:r>
              </a:p>
              <a:p>
                <a:pPr lvl="2"/>
                <a:r>
                  <a:rPr lang="en-US" dirty="0"/>
                  <a:t>Need an </a:t>
                </a:r>
                <a:r>
                  <a:rPr lang="en-US" dirty="0">
                    <a:solidFill>
                      <a:srgbClr val="0070C0"/>
                    </a:solidFill>
                  </a:rPr>
                  <a:t>exact rank-one construction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302F3-3ECF-D737-BA23-A88B0338D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C42CB-918A-EB20-6423-534939C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3179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5A92-5040-3162-2B13-0D436C92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AE3AF-D57D-947E-3F79-22EFD9C39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 in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form of (36)</a:t>
                </a:r>
              </a:p>
              <a:p>
                <a:pPr lvl="1"/>
                <a:r>
                  <a:rPr lang="en-US" dirty="0"/>
                  <a:t>Problem (36) can be written as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      (36)</a:t>
                </a:r>
                <a:endParaRPr lang="ar-AE" dirty="0"/>
              </a:p>
              <a:p>
                <a:pPr lvl="1"/>
                <a:r>
                  <a:rPr lang="en-US" dirty="0"/>
                  <a:t>This is the multi-user extended-target counterpart of (37).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AE3AF-D57D-947E-3F79-22EFD9C39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EA32-76A9-F8D3-74CF-91E2B99E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16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13C2-591D-9ADE-BCA0-23943FE2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0BE7-3668-CCAF-3C01-20D0263B1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Theorem 4</a:t>
                </a:r>
              </a:p>
              <a:p>
                <a:pPr lvl="1"/>
                <a:r>
                  <a:rPr lang="en-US" dirty="0"/>
                  <a:t>Let the optimal solution of (46) be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the relaxed solution is already optimal for the original problem.</a:t>
                </a:r>
              </a:p>
              <a:p>
                <a:pPr lvl="1"/>
                <a:r>
                  <a:rPr lang="en-US" dirty="0"/>
                  <a:t>Otherwise,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endParaRPr lang="ar-AE" i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(47)</a:t>
                </a:r>
                <a:endParaRPr lang="ar-AE" b="0" dirty="0"/>
              </a:p>
              <a:p>
                <a:pPr lvl="1"/>
                <a:r>
                  <a:rPr lang="en-US" dirty="0"/>
                  <a:t>Then Theorem 4 states: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also optimal.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0BE7-3668-CCAF-3C01-20D0263B1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52C84-2130-0ABC-A0A5-8D4BF74C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474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B168-6C91-2F80-C9FC-661302F6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633F2E-C58B-3896-41AC-F3C2438766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b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is Rank One</a:t>
                </a:r>
              </a:p>
              <a:p>
                <a:pPr lvl="1"/>
                <a:r>
                  <a:rPr lang="en-US" dirty="0"/>
                  <a:t>Recall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Substitute into (47):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Now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dirty="0"/>
                  <a:t> is an outer product of one vector with itself,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provided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which is guaranteed by feasibility.</a:t>
                </a:r>
                <a:endParaRPr lang="en-US" b="1" dirty="0"/>
              </a:p>
              <a:p>
                <a:pPr lvl="1"/>
                <a:r>
                  <a:rPr lang="en-US" dirty="0"/>
                  <a:t>The construction in (47) compresses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into a rank-one matrix along the user-relevant     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633F2E-C58B-3896-41AC-F3C243876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928" b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F4DE9-4105-9FAF-FCA7-0AE4DFB3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487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9D2A-CB89-834A-72F0-C0BFBBC7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C50F9-F073-9771-7EEA-1C42BD931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Useful Signal Preservation</a:t>
                </a:r>
              </a:p>
              <a:p>
                <a:pPr lvl="1"/>
                <a:r>
                  <a:rPr lang="en-US" dirty="0"/>
                  <a:t>We now show that the useful signal power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unchanged.</a:t>
                </a:r>
              </a:p>
              <a:p>
                <a:pPr lvl="1"/>
                <a:r>
                  <a:rPr lang="en-US" dirty="0"/>
                  <a:t>Original useful signal term: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New useful signal term: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𝐖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ar-AE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Hermitian,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Conclusion</a:t>
                </a:r>
              </a:p>
              <a:p>
                <a:pPr lvl="2"/>
                <a:r>
                  <a:rPr lang="en-US" dirty="0"/>
                  <a:t>The useful signal power is preserved exactly.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C50F9-F073-9771-7EEA-1C42BD931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9F50-962B-0741-8E34-1AD9116F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467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3920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53FE-869C-5C83-AD6D-E23964D3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4C5585-7DA2-9258-2828-7BBA9E990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Objective and Power Preservation</a:t>
                </a:r>
              </a:p>
              <a:p>
                <a:pPr lvl="1"/>
                <a:r>
                  <a:rPr lang="en-US" dirty="0"/>
                  <a:t>The construction uses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 the objective remains unchanged: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CRB objective is identical.</a:t>
                </a:r>
              </a:p>
              <a:p>
                <a:pPr lvl="2"/>
                <a:r>
                  <a:rPr lang="en-US" dirty="0"/>
                  <a:t>Also, the total power remains unchanged: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Thus:</a:t>
                </a:r>
              </a:p>
              <a:p>
                <a:pPr lvl="2"/>
                <a:r>
                  <a:rPr lang="en-US" dirty="0"/>
                  <a:t>same objective value </a:t>
                </a:r>
              </a:p>
              <a:p>
                <a:pPr lvl="2"/>
                <a:r>
                  <a:rPr lang="en-US" dirty="0"/>
                  <a:t>same total transmit power </a:t>
                </a:r>
              </a:p>
              <a:p>
                <a:pPr lvl="2"/>
                <a:r>
                  <a:rPr lang="en-US" dirty="0"/>
                  <a:t>same total covariance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Key insight</a:t>
                </a:r>
              </a:p>
              <a:p>
                <a:pPr lvl="3"/>
                <a:r>
                  <a:rPr lang="en-US" dirty="0"/>
                  <a:t>The rank-one extraction modifies only the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:r>
                  <a:rPr lang="en-US" dirty="0"/>
                  <a:t>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itself.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4C5585-7DA2-9258-2828-7BBA9E990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E714-145F-61CF-43BC-806C919C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834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D4EE-8EAA-CD08-E3C2-91737DC7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ACED-78DE-7A78-DA29-EC39DCB64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SINR Preservation</a:t>
                </a:r>
              </a:p>
              <a:p>
                <a:pPr lvl="1"/>
                <a:r>
                  <a:rPr lang="en-US" dirty="0"/>
                  <a:t>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 SINR constraint in (46) is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Now after replacement: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unchanged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unchanged 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Hence the interference term is also unchanged.</a:t>
                </a:r>
              </a:p>
              <a:p>
                <a:pPr lvl="1"/>
                <a:r>
                  <a:rPr lang="en-US" dirty="0"/>
                  <a:t>So, for every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Therefore, the SINR constraint remains satisfied.</a:t>
                </a:r>
              </a:p>
              <a:p>
                <a:pPr lvl="1"/>
                <a:r>
                  <a:rPr lang="en-US" dirty="0"/>
                  <a:t>Conclusion</a:t>
                </a:r>
              </a:p>
              <a:p>
                <a:pPr lvl="2"/>
                <a:r>
                  <a:rPr lang="en-US" dirty="0"/>
                  <a:t>The new rank-one solution is feasible and optimal.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ACED-78DE-7A78-DA29-EC39DCB64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450AE-7102-8DD2-2745-383EC60C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860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6554-BE0B-07C6-D9EB-5D3029EB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75547-1F77-F8A5-DEAC-95B4710B3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from (47)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we can choose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becomes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  (48)</a:t>
                </a:r>
                <a:endParaRPr lang="ar-AE" b="0" dirty="0"/>
              </a:p>
              <a:p>
                <a:pPr lvl="1"/>
                <a:r>
                  <a:rPr lang="en-US" b="1" dirty="0"/>
                  <a:t>Verification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(48) is exactly the beamforming vector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75547-1F77-F8A5-DEAC-95B4710B3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427CE-2477-3FEE-2815-06939165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36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4195-B8D6-33EF-971D-16BF731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AD7B7-EBEC-809F-B0A5-6A44E4A04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After extracting all rank-one communication covariances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endParaRPr lang="en-US" dirty="0"/>
              </a:p>
              <a:p>
                <a:pPr lvl="1"/>
                <a:r>
                  <a:rPr lang="en-US" dirty="0"/>
                  <a:t>The remaining covariance is assigned to the auxiliary radar beamformer: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0" dirty="0"/>
                  <a:t>            (49)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and the communication part has been explicitly separated, </a:t>
                </a:r>
              </a:p>
              <a:p>
                <a:pPr lvl="1"/>
                <a:r>
                  <a:rPr lang="en-US" dirty="0"/>
                  <a:t>The residual matrix is PSD.</a:t>
                </a:r>
              </a:p>
              <a:p>
                <a:pPr lvl="1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can be obtained as any matrix square root of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Possible constructions</a:t>
                </a:r>
              </a:p>
              <a:p>
                <a:pPr lvl="2"/>
                <a:r>
                  <a:rPr lang="en-US" dirty="0"/>
                  <a:t>Cholesky decomposition </a:t>
                </a:r>
              </a:p>
              <a:p>
                <a:pPr lvl="2"/>
                <a:r>
                  <a:rPr lang="en-US" dirty="0"/>
                  <a:t>Eigenvalue decomposition </a:t>
                </a:r>
              </a:p>
              <a:p>
                <a:pPr lvl="1"/>
                <a:r>
                  <a:rPr lang="en-US" dirty="0"/>
                  <a:t>Meaning</a:t>
                </a:r>
              </a:p>
              <a:p>
                <a:pPr lvl="2"/>
                <a:r>
                  <a:rPr lang="en-US" dirty="0"/>
                  <a:t>All extra ranks that were originally present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absorbed into the auxiliary radar covariance.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AD7B7-EBEC-809F-B0A5-6A44E4A04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5746D-7D26-D83F-9F59-C4720B85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50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066E-E002-B56B-5C89-B74630E3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451A6-4F95-EEB9-17DB-9A75B3E33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Full Derivation Summary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Hence feasibility and optimality are preserved.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451A6-4F95-EEB9-17DB-9A75B3E33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8D4FA-F54B-7E20-48E5-FD8B56FB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1152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DDF2-DCF4-8CD9-83F2-80ADB79D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7E1C1-77F5-E87D-74FD-8C1571DAF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Final Construction</a:t>
                </a:r>
              </a:p>
              <a:p>
                <a:pPr lvl="1"/>
                <a:r>
                  <a:rPr lang="en-US" dirty="0"/>
                  <a:t>Communication beamformers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            (48)</a:t>
                </a:r>
                <a:endParaRPr lang="ar-AE" b="0" dirty="0"/>
              </a:p>
              <a:p>
                <a:pPr lvl="1"/>
                <a:r>
                  <a:rPr lang="en-US" dirty="0"/>
                  <a:t>Auxiliary radar beamformer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0" dirty="0"/>
                  <a:t>                    (49)</a:t>
                </a:r>
                <a:endParaRPr lang="ar-AE" b="0" dirty="0"/>
              </a:p>
              <a:p>
                <a:pPr lvl="1"/>
                <a:r>
                  <a:rPr lang="en-US" dirty="0"/>
                  <a:t>Final structure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gives the optimal beamformer for the original problem (34).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7E1C1-77F5-E87D-74FD-8C1571DAF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97EB-B335-C3AA-23C9-E7DF9E71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358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6247</Words>
  <Application>Microsoft Office PowerPoint</Application>
  <PresentationFormat>Widescreen</PresentationFormat>
  <Paragraphs>957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맑은 고딕</vt:lpstr>
      <vt:lpstr>Arial</vt:lpstr>
      <vt:lpstr>Arial Black</vt:lpstr>
      <vt:lpstr>Calibri</vt:lpstr>
      <vt:lpstr>Cambria Math</vt:lpstr>
      <vt:lpstr>Tahoma</vt:lpstr>
      <vt:lpstr>Wingdings</vt:lpstr>
      <vt:lpstr>Office 테마</vt:lpstr>
      <vt:lpstr>Cramér-Rao Bound Optimization for Joint Radar-Communication Beamforming </vt:lpstr>
      <vt:lpstr> Table of Contents</vt:lpstr>
      <vt:lpstr>Abstract Overview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8</cp:revision>
  <dcterms:created xsi:type="dcterms:W3CDTF">2018-05-20T06:28:16Z</dcterms:created>
  <dcterms:modified xsi:type="dcterms:W3CDTF">2026-04-22T12:19:40Z</dcterms:modified>
</cp:coreProperties>
</file>